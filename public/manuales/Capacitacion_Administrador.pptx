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0" y="731520"/>
            <a:ext cx="21031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0" y="731520"/>
            <a:ext cx="2103120" cy="2103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1">
                <a:solidFill>
                  <a:srgbClr val="0A1172"/>
                </a:solidFill>
                <a:latin typeface="Calibri"/>
              </a:rPr>
              <a:t>🛡️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Calibri"/>
              </a:rPr>
              <a:t>CAPACITACIÓN SISTEMA DE GESTIÓN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Rol: Administrador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0">
                <a:solidFill>
                  <a:srgbClr val="F1F5F9"/>
                </a:solidFill>
                <a:latin typeface="Calibri"/>
              </a:rPr>
              <a:t>Acceso total al sistema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Calibri"/>
              </a:rPr>
              <a:t>Condominio Laguna Norte  ·  Junio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Tu Rol y Responsabilidades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Como Administrador tienes control completo del sistema. Eres el responsable de la configuración, usuarios y permisos.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Gestionar usuarios: crear, editar, eliminar y restablecer contraseñas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Configurar permisos del sistema (módulo exclusivo)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Aprobar Solicitudes de Compra en la 2da etapa (gestionar compra)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Aprobar/rechazar Órdenes de Trabajo completadas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Gestionar Respaldos de la base de datos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Ver Auditoría completa (logs de todas las acciones)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Acceso a Cumplimiento Legal y Respaldos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Configurar todos los módulos del sistema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Administrador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Módulos que puedes 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Tienes acceso a TODOS los módulos del sistema sin excepción: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Dashboard con métricas globales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Órdenes de Trabajo + Aprobaciones OT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Proyectos (con Informe de Costos)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Inspecciones, Personal, Asistencia, Activos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Inventario, Solicitud de Compras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Proveedores, Centro de Costos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Materiales, Tareas, Herramientas (Catálogos)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Cumplimiento Legal, Respaldos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Reportes, Auditoría, Notificaciones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Usuarios + Permisos del Sistema (exclusivo admin)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Rondas (ver, registrar, crear, editar, eliminar)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Administrador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Flujos que gestionas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Administrador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Flujo: Crear Usuario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Pasos para crear un nuevo usuario en el sistema: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1.  </a:t>
            </a:r>
            <a:r>
              <a:rPr sz="1600">
                <a:solidFill>
                  <a:srgbClr val="0F2040"/>
                </a:solidFill>
                <a:latin typeface="Calibri"/>
              </a:rPr>
              <a:t>Ve a Sistema → Usuarios → "Crear Usuario"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2.  </a:t>
            </a:r>
            <a:r>
              <a:rPr sz="1600">
                <a:solidFill>
                  <a:srgbClr val="0F2040"/>
                </a:solidFill>
                <a:latin typeface="Calibri"/>
              </a:rPr>
              <a:t>Completa: nombre, apellido, email, RUT, rol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3.  </a:t>
            </a:r>
            <a:r>
              <a:rPr sz="1600">
                <a:solidFill>
                  <a:srgbClr val="0F2040"/>
                </a:solidFill>
                <a:latin typeface="Calibri"/>
              </a:rPr>
              <a:t>Asigna contraseña temporal (mínimo 8 caracteres)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4.  </a:t>
            </a:r>
            <a:r>
              <a:rPr sz="1600">
                <a:solidFill>
                  <a:srgbClr val="0F2040"/>
                </a:solidFill>
                <a:latin typeface="Calibri"/>
              </a:rPr>
              <a:t>Configura permisos personalizados (opcional)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5.  </a:t>
            </a:r>
            <a:r>
              <a:rPr sz="1600">
                <a:solidFill>
                  <a:srgbClr val="0F2040"/>
                </a:solidFill>
                <a:latin typeface="Calibri"/>
              </a:rPr>
              <a:t>Guarda → aparece diálogo con credenciales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6.  </a:t>
            </a:r>
            <a:r>
              <a:rPr sz="1600">
                <a:solidFill>
                  <a:srgbClr val="0F2040"/>
                </a:solidFill>
                <a:latin typeface="Calibri"/>
              </a:rPr>
              <a:t>Comparte credenciales con el usuario por canal seguro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7.  </a:t>
            </a:r>
            <a:r>
              <a:rPr sz="1600">
                <a:solidFill>
                  <a:srgbClr val="0F2040"/>
                </a:solidFill>
                <a:latin typeface="Calibri"/>
              </a:rPr>
              <a:t>El usuario deberá cambiar su contraseña en el primer login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Administrador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Flujo: Aprobar Solicitud de Compra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Como admin, apruebas en la 2da etapa del flujo: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1.  </a:t>
            </a:r>
            <a:r>
              <a:rPr sz="1600">
                <a:solidFill>
                  <a:srgbClr val="0F2040"/>
                </a:solidFill>
                <a:latin typeface="Calibri"/>
              </a:rPr>
              <a:t>Ve a Solicitud de Compras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2.  </a:t>
            </a:r>
            <a:r>
              <a:rPr sz="1600">
                <a:solidFill>
                  <a:srgbClr val="0F2040"/>
                </a:solidFill>
                <a:latin typeface="Calibri"/>
              </a:rPr>
              <a:t>Busca SC con etapa "Aprobada Supervisor" (el supervisor ya aprobó)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3.  </a:t>
            </a:r>
            <a:r>
              <a:rPr sz="1600">
                <a:solidFill>
                  <a:srgbClr val="0F2040"/>
                </a:solidFill>
                <a:latin typeface="Calibri"/>
              </a:rPr>
              <a:t>Revisa materiales, monto, proveedor sugerido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4.  </a:t>
            </a:r>
            <a:r>
              <a:rPr sz="1600">
                <a:solidFill>
                  <a:srgbClr val="0F2040"/>
                </a:solidFill>
                <a:latin typeface="Calibri"/>
              </a:rPr>
              <a:t>Haz clic en "Gestionar" (botón verde)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5.  </a:t>
            </a:r>
            <a:r>
              <a:rPr sz="1600">
                <a:solidFill>
                  <a:srgbClr val="0F2040"/>
                </a:solidFill>
                <a:latin typeface="Calibri"/>
              </a:rPr>
              <a:t>Opcional: agrega observaciones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6.  </a:t>
            </a:r>
            <a:r>
              <a:rPr sz="1600">
                <a:solidFill>
                  <a:srgbClr val="0F2040"/>
                </a:solidFill>
                <a:latin typeface="Calibri"/>
              </a:rPr>
              <a:t>Confirma → estado pasa a "En Proceso"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7.  </a:t>
            </a:r>
            <a:r>
              <a:rPr sz="1600">
                <a:solidFill>
                  <a:srgbClr val="0F2040"/>
                </a:solidFill>
                <a:latin typeface="Calibri"/>
              </a:rPr>
              <a:t>Cuando compres los materiales, edita la SC → estado "Comprado"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Administrador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Flujo: Aprobar OT Completada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Cuando un trabajador completa una OT, debes aprobarla o rechazarla: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1.  </a:t>
            </a:r>
            <a:r>
              <a:rPr sz="1600">
                <a:solidFill>
                  <a:srgbClr val="0F2040"/>
                </a:solidFill>
                <a:latin typeface="Calibri"/>
              </a:rPr>
              <a:t>Ve a Aprobaciones OT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2.  </a:t>
            </a:r>
            <a:r>
              <a:rPr sz="1600">
                <a:solidFill>
                  <a:srgbClr val="0F2040"/>
                </a:solidFill>
                <a:latin typeface="Calibri"/>
              </a:rPr>
              <a:t>Verás OTs en estado "Completado" con estadoAprobacion "Pendiente"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3.  </a:t>
            </a:r>
            <a:r>
              <a:rPr sz="1600">
                <a:solidFill>
                  <a:srgbClr val="0F2040"/>
                </a:solidFill>
                <a:latin typeface="Calibri"/>
              </a:rPr>
              <a:t>Haz clic en la OT para revisar: materiales, tareas, fotos, observaciones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4.  </a:t>
            </a:r>
            <a:r>
              <a:rPr sz="1600">
                <a:solidFill>
                  <a:srgbClr val="0F2040"/>
                </a:solidFill>
                <a:latin typeface="Calibri"/>
              </a:rPr>
              <a:t>Si todo está correcto: "Aprobar" (verde)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5.  </a:t>
            </a:r>
            <a:r>
              <a:rPr sz="1600">
                <a:solidFill>
                  <a:srgbClr val="0F2040"/>
                </a:solidFill>
                <a:latin typeface="Calibri"/>
              </a:rPr>
              <a:t>Si hay problemas: "Rechazar" (rojo) + motivo obligatorio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6.  </a:t>
            </a:r>
            <a:r>
              <a:rPr sz="1600">
                <a:solidFill>
                  <a:srgbClr val="0F2040"/>
                </a:solidFill>
                <a:latin typeface="Calibri"/>
              </a:rPr>
              <a:t>El trabajador verá el rechazo y deberá corregir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7.  </a:t>
            </a:r>
            <a:r>
              <a:rPr sz="1600">
                <a:solidFill>
                  <a:srgbClr val="0F2040"/>
                </a:solidFill>
                <a:latin typeface="Calibri"/>
              </a:rPr>
              <a:t>Todo queda en el historial (Seguimiento de Aprobaciones)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Administrador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Módulo Permisos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5577840" cy="5486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577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Exclusivo del Administrador — matriz visual de permisos por rol: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15 categorías de permisos documentadas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6 roles: admin, supervisor, usuario, personal, auditor, guardia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Checkbox "Todos" por categoría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Descripción de cada permiso + ID técnico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Botón "Restaurar defaults"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97280"/>
            <a:ext cx="5577840" cy="548640"/>
          </a:xfrm>
          <a:prstGeom prst="round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097280"/>
            <a:ext cx="5577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Rol admin está bloqueado (locked):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288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0A1172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Los permisos del admin NO se pueden modificar desde la UI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0A1172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Por seguridad, el admin siempre tiene acceso total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0A1172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Para cambiar permisos de admin: editar código en lib/auth.ts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0A1172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Usuarios individuales pueden tener permisos personalizados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1">
                <a:solidFill>
                  <a:srgbClr val="0A1172"/>
                </a:solidFill>
                <a:latin typeface="Calibri"/>
              </a:rPr>
              <a:t>● </a:t>
            </a:r>
            <a:r>
              <a:rPr sz="1400">
                <a:solidFill>
                  <a:srgbClr val="0F2040"/>
                </a:solidFill>
                <a:latin typeface="Calibri"/>
              </a:rPr>
              <a:t>Los cambios aplican a nuevos usuarios creados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Administrador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Gestión de Respaldos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332720" cy="3200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37160" cy="320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0">
                <a:solidFill>
                  <a:srgbClr val="F59E0B"/>
                </a:solidFill>
                <a:latin typeface="Calibri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03120"/>
            <a:ext cx="7498079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>
                <a:solidFill>
                  <a:srgbClr val="0F2040"/>
                </a:solidFill>
                <a:latin typeface="Calibri"/>
              </a:rPr>
              <a:t>Los respaldos de la base de datos son críticos. Se recomienda hacer al menos un backup semanal y descargarlo a un lugar seguro (no solo en el servidor). Ve a Sistema → Respaldos para crear, descargar o restaurar backups.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Administrador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Buenas Prácticas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332720" cy="3200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37160" cy="32004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03120"/>
            <a:ext cx="7498079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>
                <a:solidFill>
                  <a:srgbClr val="0F2040"/>
                </a:solidFill>
                <a:latin typeface="Calibri"/>
              </a:rPr>
              <a:t>✓ Revisa el módulo Notificaciones regularmente para estar al día con aprobaciones pendientes
✓ Usa el módulo Permisos del Sistema como documentación oficial
✓ No compartas tu contraseña de admin con nadie
✓ Asigna permisos personalizados solo cuando sea estrictamente necesario
✓ Revisa la Auditoría periódicamente para detectar uso anómalo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Administrador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Datos de Acceso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URL del sistema y credenciales de tu rol de prueba: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URL: https://condominios-cyj.vercel.app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Email: admin@cyj.cl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Contraseña: (la que ya tienes configurada)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Página de inicio: /sistema (dashboard)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Módulo exclusivo: Sistema → Permisos del Sistema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Administrador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¡Listo!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0">
                <a:solidFill>
                  <a:srgbClr val="F1F5F9"/>
                </a:solidFill>
                <a:latin typeface="Calibri"/>
              </a:rPr>
              <a:t>Ya puedes comenzar a usar el sistema como Administrador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F59E0B"/>
                </a:solidFill>
                <a:latin typeface="Calibri"/>
              </a:rPr>
              <a:t>Si tienes dudas, consulta el Manual de Usuario o contacta al administrador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asesoriasintegralescyj@gmail.com  ·  +56 964 650 643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