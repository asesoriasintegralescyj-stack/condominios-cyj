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0" y="731520"/>
            <a:ext cx="21031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0" y="731520"/>
            <a:ext cx="2103120" cy="2103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8000" b="1">
                <a:solidFill>
                  <a:srgbClr val="0A1172"/>
                </a:solidFill>
                <a:latin typeface="Calibri"/>
              </a:rPr>
              <a:t>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69848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Calibri"/>
              </a:rPr>
              <a:t>CAPACITACIÓN SISTEMA DE GESTIÓN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49039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Rol: Usuario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106984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0">
                <a:solidFill>
                  <a:srgbClr val="F1F5F9"/>
                </a:solidFill>
                <a:latin typeface="Calibri"/>
              </a:rPr>
              <a:t>Acceso básico para residentes y staff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Calibri"/>
              </a:rPr>
              <a:t>Condominio Laguna Norte  ·  Junio 2026  ·  v1.1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Tu Rol y Responsabilidades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Como Usuario tienes acceso básico al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16A34A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Crear Órdenes de Trabajo (no editar ni eliminar)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16A34A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Crear Solicitudes de Compra (con justificación)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16A34A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Ver catálogos (materiales, tareas, herramientas)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16A34A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Ver reportes (no exportar)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16A34A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Ver inventario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16A34A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Hacer seguimiento de tus solicitudes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Usuario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Dashboard del Usuario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3</a:t>
            </a:r>
          </a:p>
        </p:txBody>
      </p:sp>
      <p:pic>
        <p:nvPicPr>
          <p:cNvPr id="5" name="Picture 4" descr="02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687" y="1097280"/>
            <a:ext cx="9418320" cy="5886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Calibri"/>
              </a:rPr>
              <a:t>Vista del Dashboard con métricas principales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Usuario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Órdenes de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4</a:t>
            </a:r>
          </a:p>
        </p:txBody>
      </p:sp>
      <p:pic>
        <p:nvPicPr>
          <p:cNvPr id="5" name="Picture 4" descr="03_ot_li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687" y="1097280"/>
            <a:ext cx="9418320" cy="5886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Calibri"/>
              </a:rPr>
              <a:t>Listado de OT — el usuario puede ver y crear (no editar/eliminar)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Usuario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Flujo: Crear Solicitud de Compra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Cómo solicitar la compra de materiales: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16A34A"/>
                </a:solidFill>
              </a:rPr>
              <a:t>1.  </a:t>
            </a:r>
            <a:r>
              <a:rPr sz="1600">
                <a:solidFill>
                  <a:srgbClr val="0F2040"/>
                </a:solidFill>
              </a:rPr>
              <a:t>Ve a Solicitud de Compras → "Nueva Solicitud"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16A34A"/>
                </a:solidFill>
              </a:rPr>
              <a:t>2.  </a:t>
            </a:r>
            <a:r>
              <a:rPr sz="1600">
                <a:solidFill>
                  <a:srgbClr val="0F2040"/>
                </a:solidFill>
              </a:rPr>
              <a:t>Completa: título, descripción, prioridad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16A34A"/>
                </a:solidFill>
              </a:rPr>
              <a:t>3.  </a:t>
            </a:r>
            <a:r>
              <a:rPr sz="1600">
                <a:solidFill>
                  <a:srgbClr val="0F2040"/>
                </a:solidFill>
              </a:rPr>
              <a:t>Indica fecha esperada de entrega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16A34A"/>
                </a:solidFill>
              </a:rPr>
              <a:t>4.  </a:t>
            </a:r>
            <a:r>
              <a:rPr sz="1600">
                <a:solidFill>
                  <a:srgbClr val="0F2040"/>
                </a:solidFill>
              </a:rPr>
              <a:t>Agrega los materiales (nombre, cantidad, precio)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16A34A"/>
                </a:solidFill>
              </a:rPr>
              <a:t>5.  </a:t>
            </a:r>
            <a:r>
              <a:rPr sz="1600">
                <a:solidFill>
                  <a:srgbClr val="0F2040"/>
                </a:solidFill>
              </a:rPr>
              <a:t>Guarda → se envía email automático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16A34A"/>
                </a:solidFill>
              </a:rPr>
              <a:t>6.  </a:t>
            </a:r>
            <a:r>
              <a:rPr sz="1600">
                <a:solidFill>
                  <a:srgbClr val="0F2040"/>
                </a:solidFill>
              </a:rPr>
              <a:t>Tu SC queda en etapa "Pendiente Supervisor"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16A34A"/>
                </a:solidFill>
              </a:rPr>
              <a:t>7.  </a:t>
            </a:r>
            <a:r>
              <a:rPr sz="1600">
                <a:solidFill>
                  <a:srgbClr val="0F2040"/>
                </a:solidFill>
              </a:rPr>
              <a:t>Recibirás notificaciones en cada etapa del flujo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Usuario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Crear Nueva SC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6</a:t>
            </a:r>
          </a:p>
        </p:txBody>
      </p:sp>
      <p:pic>
        <p:nvPicPr>
          <p:cNvPr id="5" name="Picture 4" descr="11_sc_cr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687" y="1097280"/>
            <a:ext cx="9418320" cy="5886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Calibri"/>
              </a:rPr>
              <a:t>Formulario de creación de Solicitud de Compra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Usuario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Crear Nueva 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7</a:t>
            </a:r>
          </a:p>
        </p:txBody>
      </p:sp>
      <p:pic>
        <p:nvPicPr>
          <p:cNvPr id="5" name="Picture 4" descr="10_ot_cr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687" y="1097280"/>
            <a:ext cx="9418320" cy="5886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Calibri"/>
              </a:rPr>
              <a:t>Formulario de creación de Orden de Trabajo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Usuario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Seguimiento de tus solicitudes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0332720" cy="3200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828800"/>
            <a:ext cx="137160" cy="32004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0312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8000" b="0">
                <a:solidFill>
                  <a:srgbClr val="0369A1"/>
                </a:solidFill>
                <a:latin typeface="Calibri"/>
              </a:rPr>
              <a:t>ℹ️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103120"/>
            <a:ext cx="7498079" cy="2743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>
                <a:solidFill>
                  <a:srgbClr val="0F2040"/>
                </a:solidFill>
                <a:latin typeface="Calibri"/>
              </a:rPr>
              <a:t>En Solicitud de Compras solo ves las que TÚ creaste. Puedes filtrar por estado y prioridad. Recibirás notificaciones cuando el supervisor apruebe/rechace y cuando el admin gestione la compra.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Usuario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Datos de Acceso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Credenciales de prueba: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16A34A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URL: https://condominios-cyj.vercel.app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16A34A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Email: usuario.test@cyj.cl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16A34A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Contraseña temporal: Usuario2026!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16A34A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Deberás cambiar la contraseña en el primer login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Usuario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Calibri"/>
              </a:rPr>
              <a:t>¡Listo!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200" b="0">
                <a:solidFill>
                  <a:srgbClr val="F1F5F9"/>
                </a:solidFill>
                <a:latin typeface="Calibri"/>
              </a:rPr>
              <a:t>Ya puedes comenzar a usar el sistema como Usuario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>
                <a:solidFill>
                  <a:srgbClr val="F59E0B"/>
                </a:solidFill>
                <a:latin typeface="Calibri"/>
              </a:rPr>
              <a:t>Si tienes dudas, consulta el Manual de Usuario o contacta al administrador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asesoriasintegralescyj@gmail.com  ·  +56 964 650 643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