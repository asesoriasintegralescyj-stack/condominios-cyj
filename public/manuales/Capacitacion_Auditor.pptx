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7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0" y="731520"/>
            <a:ext cx="2103120" cy="21031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0" y="731520"/>
            <a:ext cx="2103120" cy="21031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8000" b="1">
                <a:solidFill>
                  <a:srgbClr val="0A1172"/>
                </a:solidFill>
                <a:latin typeface="Calibri"/>
              </a:rPr>
              <a:t>👁️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108960"/>
            <a:ext cx="1069848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>
                <a:solidFill>
                  <a:srgbClr val="F59E0B"/>
                </a:solidFill>
                <a:latin typeface="Calibri"/>
              </a:rPr>
              <a:t>CAPACITACIÓN SISTEMA DE GESTIÓN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49039"/>
            <a:ext cx="106984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Calibri"/>
              </a:rPr>
              <a:t>Rol: Auditor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846320"/>
            <a:ext cx="1069848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0">
                <a:solidFill>
                  <a:srgbClr val="F1F5F9"/>
                </a:solidFill>
                <a:latin typeface="Calibri"/>
              </a:rPr>
              <a:t>Solo lectura — control y trazabilidad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852160"/>
            <a:ext cx="106984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400" b="1">
                <a:solidFill>
                  <a:srgbClr val="F59E0B"/>
                </a:solidFill>
                <a:latin typeface="Calibri"/>
              </a:rPr>
              <a:t>Condominio Laguna Norte  ·  Junio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11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00584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Tu Rol y Responsabilidades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137160"/>
            <a:ext cx="73152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400" b="0">
                <a:solidFill>
                  <a:srgbClr val="F59E0B"/>
                </a:solidFill>
                <a:latin typeface="Calibri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1124712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Calibri"/>
              </a:rPr>
              <a:t>Como Auditor tienes acceso de SOLO LECTURA a todos los módulos para verificar el cumplimiento de procesos.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600" b="1">
                <a:solidFill>
                  <a:srgbClr val="666666"/>
                </a:solidFill>
                <a:latin typeface="Calibri"/>
              </a:rPr>
              <a:t>● </a:t>
            </a:r>
            <a:r>
              <a:rPr sz="1600">
                <a:solidFill>
                  <a:srgbClr val="0F2040"/>
                </a:solidFill>
                <a:latin typeface="Calibri"/>
              </a:rPr>
              <a:t>Visualizar todos los módulos del sistema (sin modificar)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600" b="1">
                <a:solidFill>
                  <a:srgbClr val="666666"/>
                </a:solidFill>
                <a:latin typeface="Calibri"/>
              </a:rPr>
              <a:t>● </a:t>
            </a:r>
            <a:r>
              <a:rPr sz="1600">
                <a:solidFill>
                  <a:srgbClr val="0F2040"/>
                </a:solidFill>
                <a:latin typeface="Calibri"/>
              </a:rPr>
              <a:t>Revisar logs de auditoría (todas las acciones del sistema)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600" b="1">
                <a:solidFill>
                  <a:srgbClr val="666666"/>
                </a:solidFill>
                <a:latin typeface="Calibri"/>
              </a:rPr>
              <a:t>● </a:t>
            </a:r>
            <a:r>
              <a:rPr sz="1600">
                <a:solidFill>
                  <a:srgbClr val="0F2040"/>
                </a:solidFill>
                <a:latin typeface="Calibri"/>
              </a:rPr>
              <a:t>Ver historial de aprobaciones de OT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600" b="1">
                <a:solidFill>
                  <a:srgbClr val="666666"/>
                </a:solidFill>
                <a:latin typeface="Calibri"/>
              </a:rPr>
              <a:t>● </a:t>
            </a:r>
            <a:r>
              <a:rPr sz="1600">
                <a:solidFill>
                  <a:srgbClr val="0F2040"/>
                </a:solidFill>
                <a:latin typeface="Calibri"/>
              </a:rPr>
              <a:t>Ver historial de aprobaciones de Solicitudes de Compra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600" b="1">
                <a:solidFill>
                  <a:srgbClr val="666666"/>
                </a:solidFill>
                <a:latin typeface="Calibri"/>
              </a:rPr>
              <a:t>● </a:t>
            </a:r>
            <a:r>
              <a:rPr sz="1600">
                <a:solidFill>
                  <a:srgbClr val="0F2040"/>
                </a:solidFill>
                <a:latin typeface="Calibri"/>
              </a:rPr>
              <a:t>Ver OT, proyectos, personal, activos, inventario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600" b="1">
                <a:solidFill>
                  <a:srgbClr val="666666"/>
                </a:solidFill>
                <a:latin typeface="Calibri"/>
              </a:rPr>
              <a:t>● </a:t>
            </a:r>
            <a:r>
              <a:rPr sz="1600">
                <a:solidFill>
                  <a:srgbClr val="0F2040"/>
                </a:solidFill>
                <a:latin typeface="Calibri"/>
              </a:rPr>
              <a:t>Ver reportes (no exportar)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600" b="1">
                <a:solidFill>
                  <a:srgbClr val="666666"/>
                </a:solidFill>
                <a:latin typeface="Calibri"/>
              </a:rPr>
              <a:t>● </a:t>
            </a:r>
            <a:r>
              <a:rPr sz="1600">
                <a:solidFill>
                  <a:srgbClr val="0F2040"/>
                </a:solidFill>
                <a:latin typeface="Calibri"/>
              </a:rPr>
              <a:t>Ver cumplimiento legal (solo lectura)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600" b="1">
                <a:solidFill>
                  <a:srgbClr val="666666"/>
                </a:solidFill>
                <a:latin typeface="Calibri"/>
              </a:rPr>
              <a:t>● </a:t>
            </a:r>
            <a:r>
              <a:rPr sz="1600">
                <a:solidFill>
                  <a:srgbClr val="0F2040"/>
                </a:solidFill>
                <a:latin typeface="Calibri"/>
              </a:rPr>
              <a:t>Ver notificaciones del sistema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F2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83680"/>
            <a:ext cx="64008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Asesorías Integrales CyJ · Capacitación Auditor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6583680"/>
            <a:ext cx="45720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900" b="0">
                <a:solidFill>
                  <a:srgbClr val="F59E0B"/>
                </a:solidFill>
                <a:latin typeface="Calibri"/>
              </a:rPr>
              <a:t>https://condominios-cyj.vercel.app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11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00584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Módulos que puedes 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137160"/>
            <a:ext cx="73152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400" b="0">
                <a:solidFill>
                  <a:srgbClr val="F59E0B"/>
                </a:solidFill>
                <a:latin typeface="Calibri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1124712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Calibri"/>
              </a:rPr>
              <a:t>Tienes acceso de lectura a casi todos los módulos: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600" b="1">
                <a:solidFill>
                  <a:srgbClr val="666666"/>
                </a:solidFill>
                <a:latin typeface="Calibri"/>
              </a:rPr>
              <a:t>● </a:t>
            </a:r>
            <a:r>
              <a:rPr sz="1600">
                <a:solidFill>
                  <a:srgbClr val="0F2040"/>
                </a:solidFill>
                <a:latin typeface="Calibri"/>
              </a:rPr>
              <a:t>Dashboard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600" b="1">
                <a:solidFill>
                  <a:srgbClr val="666666"/>
                </a:solidFill>
                <a:latin typeface="Calibri"/>
              </a:rPr>
              <a:t>● </a:t>
            </a:r>
            <a:r>
              <a:rPr sz="1600">
                <a:solidFill>
                  <a:srgbClr val="0F2040"/>
                </a:solidFill>
                <a:latin typeface="Calibri"/>
              </a:rPr>
              <a:t>Órdenes de Trabajo (ver, no crear/editar)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600" b="1">
                <a:solidFill>
                  <a:srgbClr val="666666"/>
                </a:solidFill>
                <a:latin typeface="Calibri"/>
              </a:rPr>
              <a:t>● </a:t>
            </a:r>
            <a:r>
              <a:rPr sz="1600">
                <a:solidFill>
                  <a:srgbClr val="0F2040"/>
                </a:solidFill>
                <a:latin typeface="Calibri"/>
              </a:rPr>
              <a:t>Aprobaciones OT (ver historial)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600" b="1">
                <a:solidFill>
                  <a:srgbClr val="666666"/>
                </a:solidFill>
                <a:latin typeface="Calibri"/>
              </a:rPr>
              <a:t>● </a:t>
            </a:r>
            <a:r>
              <a:rPr sz="1600">
                <a:solidFill>
                  <a:srgbClr val="0F2040"/>
                </a:solidFill>
                <a:latin typeface="Calibri"/>
              </a:rPr>
              <a:t>Proyectos (ver)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600" b="1">
                <a:solidFill>
                  <a:srgbClr val="666666"/>
                </a:solidFill>
                <a:latin typeface="Calibri"/>
              </a:rPr>
              <a:t>● </a:t>
            </a:r>
            <a:r>
              <a:rPr sz="1600">
                <a:solidFill>
                  <a:srgbClr val="0F2040"/>
                </a:solidFill>
                <a:latin typeface="Calibri"/>
              </a:rPr>
              <a:t>Inspecciones (ver)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600" b="1">
                <a:solidFill>
                  <a:srgbClr val="666666"/>
                </a:solidFill>
                <a:latin typeface="Calibri"/>
              </a:rPr>
              <a:t>● </a:t>
            </a:r>
            <a:r>
              <a:rPr sz="1600">
                <a:solidFill>
                  <a:srgbClr val="0F2040"/>
                </a:solidFill>
                <a:latin typeface="Calibri"/>
              </a:rPr>
              <a:t>Personal (ver)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600" b="1">
                <a:solidFill>
                  <a:srgbClr val="666666"/>
                </a:solidFill>
                <a:latin typeface="Calibri"/>
              </a:rPr>
              <a:t>● </a:t>
            </a:r>
            <a:r>
              <a:rPr sz="1600">
                <a:solidFill>
                  <a:srgbClr val="0F2040"/>
                </a:solidFill>
                <a:latin typeface="Calibri"/>
              </a:rPr>
              <a:t>Activos (ver)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600" b="1">
                <a:solidFill>
                  <a:srgbClr val="666666"/>
                </a:solidFill>
                <a:latin typeface="Calibri"/>
              </a:rPr>
              <a:t>● </a:t>
            </a:r>
            <a:r>
              <a:rPr sz="1600">
                <a:solidFill>
                  <a:srgbClr val="0F2040"/>
                </a:solidFill>
                <a:latin typeface="Calibri"/>
              </a:rPr>
              <a:t>Inventario (ver)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600" b="1">
                <a:solidFill>
                  <a:srgbClr val="666666"/>
                </a:solidFill>
                <a:latin typeface="Calibri"/>
              </a:rPr>
              <a:t>● </a:t>
            </a:r>
            <a:r>
              <a:rPr sz="1600">
                <a:solidFill>
                  <a:srgbClr val="0F2040"/>
                </a:solidFill>
                <a:latin typeface="Calibri"/>
              </a:rPr>
              <a:t>Solicitud de Compras (ver todas)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600" b="1">
                <a:solidFill>
                  <a:srgbClr val="666666"/>
                </a:solidFill>
                <a:latin typeface="Calibri"/>
              </a:rPr>
              <a:t>● </a:t>
            </a:r>
            <a:r>
              <a:rPr sz="1600">
                <a:solidFill>
                  <a:srgbClr val="0F2040"/>
                </a:solidFill>
                <a:latin typeface="Calibri"/>
              </a:rPr>
              <a:t>Proveedores (ver), Centro de Costos (ver)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600" b="1">
                <a:solidFill>
                  <a:srgbClr val="666666"/>
                </a:solidFill>
                <a:latin typeface="Calibri"/>
              </a:rPr>
              <a:t>● </a:t>
            </a:r>
            <a:r>
              <a:rPr sz="1600">
                <a:solidFill>
                  <a:srgbClr val="0F2040"/>
                </a:solidFill>
                <a:latin typeface="Calibri"/>
              </a:rPr>
              <a:t>Catálogos (ver)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600" b="1">
                <a:solidFill>
                  <a:srgbClr val="666666"/>
                </a:solidFill>
                <a:latin typeface="Calibri"/>
              </a:rPr>
              <a:t>● </a:t>
            </a:r>
            <a:r>
              <a:rPr sz="1600">
                <a:solidFill>
                  <a:srgbClr val="0F2040"/>
                </a:solidFill>
                <a:latin typeface="Calibri"/>
              </a:rPr>
              <a:t>Reportes (ver, no exportar)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600" b="1">
                <a:solidFill>
                  <a:srgbClr val="666666"/>
                </a:solidFill>
                <a:latin typeface="Calibri"/>
              </a:rPr>
              <a:t>● </a:t>
            </a:r>
            <a:r>
              <a:rPr sz="1600">
                <a:solidFill>
                  <a:srgbClr val="0F2040"/>
                </a:solidFill>
                <a:latin typeface="Calibri"/>
              </a:rPr>
              <a:t>Auditoría / Logs (ver — módulo principal)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600" b="1">
                <a:solidFill>
                  <a:srgbClr val="666666"/>
                </a:solidFill>
                <a:latin typeface="Calibri"/>
              </a:rPr>
              <a:t>● </a:t>
            </a:r>
            <a:r>
              <a:rPr sz="1600">
                <a:solidFill>
                  <a:srgbClr val="0F2040"/>
                </a:solidFill>
                <a:latin typeface="Calibri"/>
              </a:rPr>
              <a:t>Notificaciones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600" b="1">
                <a:solidFill>
                  <a:srgbClr val="666666"/>
                </a:solidFill>
                <a:latin typeface="Calibri"/>
              </a:rPr>
              <a:t>● </a:t>
            </a:r>
            <a:r>
              <a:rPr sz="1600">
                <a:solidFill>
                  <a:srgbClr val="0F2040"/>
                </a:solidFill>
                <a:latin typeface="Calibri"/>
              </a:rPr>
              <a:t>Rondas (ver registros, no registrar)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F2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83680"/>
            <a:ext cx="64008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Asesorías Integrales CyJ · Capacitación Auditor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6583680"/>
            <a:ext cx="45720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900" b="0">
                <a:solidFill>
                  <a:srgbClr val="F59E0B"/>
                </a:solidFill>
                <a:latin typeface="Calibri"/>
              </a:rPr>
              <a:t>https://condominios-cyj.vercel.app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0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108960"/>
            <a:ext cx="12191695" cy="73152"/>
          </a:xfrm>
          <a:prstGeom prst="rect">
            <a:avLst/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560320"/>
            <a:ext cx="1069848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Calibri"/>
              </a:rPr>
              <a:t>Tu enfoque principal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F2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583680"/>
            <a:ext cx="64008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Asesorías Integrales CyJ · Capacitación Auditor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6583680"/>
            <a:ext cx="45720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900" b="0">
                <a:solidFill>
                  <a:srgbClr val="F59E0B"/>
                </a:solidFill>
                <a:latin typeface="Calibri"/>
              </a:rPr>
              <a:t>https://condominios-cyj.vercel.app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11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00584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Módulo Auditoría (Logs)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137160"/>
            <a:ext cx="73152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400" b="0">
                <a:solidFill>
                  <a:srgbClr val="F59E0B"/>
                </a:solidFill>
                <a:latin typeface="Calibri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1124712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Calibri"/>
              </a:rPr>
              <a:t>Tu herramienta principal para verificar el uso del sistema: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600" b="1">
                <a:solidFill>
                  <a:srgbClr val="666666"/>
                </a:solidFill>
                <a:latin typeface="Calibri"/>
              </a:rPr>
              <a:t>● </a:t>
            </a:r>
            <a:r>
              <a:rPr sz="1600">
                <a:solidFill>
                  <a:srgbClr val="0F2040"/>
                </a:solidFill>
                <a:latin typeface="Calibri"/>
              </a:rPr>
              <a:t>Todas las acciones quedan registradas: create, update, delete, login, etc.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600" b="1">
                <a:solidFill>
                  <a:srgbClr val="666666"/>
                </a:solidFill>
                <a:latin typeface="Calibri"/>
              </a:rPr>
              <a:t>● </a:t>
            </a:r>
            <a:r>
              <a:rPr sz="1600">
                <a:solidFill>
                  <a:srgbClr val="0F2040"/>
                </a:solidFill>
                <a:latin typeface="Calibri"/>
              </a:rPr>
              <a:t>Cada registro incluye: usuario, entidad, ID, datos antes/después, IP, fecha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600" b="1">
                <a:solidFill>
                  <a:srgbClr val="666666"/>
                </a:solidFill>
                <a:latin typeface="Calibri"/>
              </a:rPr>
              <a:t>● </a:t>
            </a:r>
            <a:r>
              <a:rPr sz="1600">
                <a:solidFill>
                  <a:srgbClr val="0F2040"/>
                </a:solidFill>
                <a:latin typeface="Calibri"/>
              </a:rPr>
              <a:t>Puedes filtrar por usuario, entidad, acción o rango de fechas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600" b="1">
                <a:solidFill>
                  <a:srgbClr val="666666"/>
                </a:solidFill>
                <a:latin typeface="Calibri"/>
              </a:rPr>
              <a:t>● </a:t>
            </a:r>
            <a:r>
              <a:rPr sz="1600">
                <a:solidFill>
                  <a:srgbClr val="0F2040"/>
                </a:solidFill>
                <a:latin typeface="Calibri"/>
              </a:rPr>
              <a:t>Verifica quién aprobó/rechazó cada OT y SC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600" b="1">
                <a:solidFill>
                  <a:srgbClr val="666666"/>
                </a:solidFill>
                <a:latin typeface="Calibri"/>
              </a:rPr>
              <a:t>● </a:t>
            </a:r>
            <a:r>
              <a:rPr sz="1600">
                <a:solidFill>
                  <a:srgbClr val="0F2040"/>
                </a:solidFill>
                <a:latin typeface="Calibri"/>
              </a:rPr>
              <a:t>Verifica quién creó/modificó usuarios y permisos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600" b="1">
                <a:solidFill>
                  <a:srgbClr val="666666"/>
                </a:solidFill>
                <a:latin typeface="Calibri"/>
              </a:rPr>
              <a:t>● </a:t>
            </a:r>
            <a:r>
              <a:rPr sz="1600">
                <a:solidFill>
                  <a:srgbClr val="0F2040"/>
                </a:solidFill>
                <a:latin typeface="Calibri"/>
              </a:rPr>
              <a:t>Verifica intentos de login fallidos y bloqueos de cuenta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600" b="1">
                <a:solidFill>
                  <a:srgbClr val="666666"/>
                </a:solidFill>
                <a:latin typeface="Calibri"/>
              </a:rPr>
              <a:t>● </a:t>
            </a:r>
            <a:r>
              <a:rPr sz="1600">
                <a:solidFill>
                  <a:srgbClr val="0F2040"/>
                </a:solidFill>
                <a:latin typeface="Calibri"/>
              </a:rPr>
              <a:t>Trazabilidad completa de cambios en datos sensibles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F2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83680"/>
            <a:ext cx="64008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Asesorías Integrales CyJ · Capacitación Auditor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6583680"/>
            <a:ext cx="45720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900" b="0">
                <a:solidFill>
                  <a:srgbClr val="F59E0B"/>
                </a:solidFill>
                <a:latin typeface="Calibri"/>
              </a:rPr>
              <a:t>https://condominios-cyj.vercel.app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11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00584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Qué revisar en una auditoría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137160"/>
            <a:ext cx="73152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400" b="0">
                <a:solidFill>
                  <a:srgbClr val="F59E0B"/>
                </a:solidFill>
                <a:latin typeface="Calibri"/>
              </a:rPr>
              <a:t>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097280"/>
            <a:ext cx="5577840" cy="548640"/>
          </a:xfrm>
          <a:prstGeom prst="roundRect">
            <a:avLst/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097280"/>
            <a:ext cx="557784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Verificar cumplimiento de procesos: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828800"/>
            <a:ext cx="5394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400" b="1">
                <a:solidFill>
                  <a:srgbClr val="666666"/>
                </a:solidFill>
                <a:latin typeface="Calibri"/>
              </a:rPr>
              <a:t>● </a:t>
            </a:r>
            <a:r>
              <a:rPr sz="1400">
                <a:solidFill>
                  <a:srgbClr val="0F2040"/>
                </a:solidFill>
                <a:latin typeface="Calibri"/>
              </a:rPr>
              <a:t>¿Las OT fueron aprobadas por roles autorizados?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400" b="1">
                <a:solidFill>
                  <a:srgbClr val="666666"/>
                </a:solidFill>
                <a:latin typeface="Calibri"/>
              </a:rPr>
              <a:t>● </a:t>
            </a:r>
            <a:r>
              <a:rPr sz="1400">
                <a:solidFill>
                  <a:srgbClr val="0F2040"/>
                </a:solidFill>
                <a:latin typeface="Calibri"/>
              </a:rPr>
              <a:t>¿Las SC siguen el flujo supervisor → admin?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400" b="1">
                <a:solidFill>
                  <a:srgbClr val="666666"/>
                </a:solidFill>
                <a:latin typeface="Calibri"/>
              </a:rPr>
              <a:t>● </a:t>
            </a:r>
            <a:r>
              <a:rPr sz="1400">
                <a:solidFill>
                  <a:srgbClr val="0F2040"/>
                </a:solidFill>
                <a:latin typeface="Calibri"/>
              </a:rPr>
              <a:t>¿Los usuarios cambian su contraseña temporal?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400" b="1">
                <a:solidFill>
                  <a:srgbClr val="666666"/>
                </a:solidFill>
                <a:latin typeface="Calibri"/>
              </a:rPr>
              <a:t>● </a:t>
            </a:r>
            <a:r>
              <a:rPr sz="1400">
                <a:solidFill>
                  <a:srgbClr val="0F2040"/>
                </a:solidFill>
                <a:latin typeface="Calibri"/>
              </a:rPr>
              <a:t>¿Se hacen respaldos periódicos?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400" b="1">
                <a:solidFill>
                  <a:srgbClr val="666666"/>
                </a:solidFill>
                <a:latin typeface="Calibri"/>
              </a:rPr>
              <a:t>● </a:t>
            </a:r>
            <a:r>
              <a:rPr sz="1400">
                <a:solidFill>
                  <a:srgbClr val="0F2040"/>
                </a:solidFill>
                <a:latin typeface="Calibri"/>
              </a:rPr>
              <a:t>¿Hay intentos de login sospechosos?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097280"/>
            <a:ext cx="5577840" cy="548640"/>
          </a:xfrm>
          <a:prstGeom prst="roundRect">
            <a:avLst/>
          </a:prstGeom>
          <a:solidFill>
            <a:srgbClr val="0A11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0" y="1097280"/>
            <a:ext cx="557784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Verificar consistencia de datos: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828800"/>
            <a:ext cx="5394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400" b="1">
                <a:solidFill>
                  <a:srgbClr val="0A1172"/>
                </a:solidFill>
                <a:latin typeface="Calibri"/>
              </a:rPr>
              <a:t>● </a:t>
            </a:r>
            <a:r>
              <a:rPr sz="1400">
                <a:solidFill>
                  <a:srgbClr val="0F2040"/>
                </a:solidFill>
                <a:latin typeface="Calibri"/>
              </a:rPr>
              <a:t>¿Los montos de OT coinciden con materiales+personal?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400" b="1">
                <a:solidFill>
                  <a:srgbClr val="0A1172"/>
                </a:solidFill>
                <a:latin typeface="Calibri"/>
              </a:rPr>
              <a:t>● </a:t>
            </a:r>
            <a:r>
              <a:rPr sz="1400">
                <a:solidFill>
                  <a:srgbClr val="0F2040"/>
                </a:solidFill>
                <a:latin typeface="Calibri"/>
              </a:rPr>
              <a:t>¿Las SC aprobadas tienen observaciones?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400" b="1">
                <a:solidFill>
                  <a:srgbClr val="0A1172"/>
                </a:solidFill>
                <a:latin typeface="Calibri"/>
              </a:rPr>
              <a:t>● </a:t>
            </a:r>
            <a:r>
              <a:rPr sz="1400">
                <a:solidFill>
                  <a:srgbClr val="0F2040"/>
                </a:solidFill>
                <a:latin typeface="Calibri"/>
              </a:rPr>
              <a:t>¿Los proyectos completados tienen fecha de fin real?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400" b="1">
                <a:solidFill>
                  <a:srgbClr val="0A1172"/>
                </a:solidFill>
                <a:latin typeface="Calibri"/>
              </a:rPr>
              <a:t>● </a:t>
            </a:r>
            <a:r>
              <a:rPr sz="1400">
                <a:solidFill>
                  <a:srgbClr val="0F2040"/>
                </a:solidFill>
                <a:latin typeface="Calibri"/>
              </a:rPr>
              <a:t>¿Las rondas se registran en horarios esperados?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400" b="1">
                <a:solidFill>
                  <a:srgbClr val="0A1172"/>
                </a:solidFill>
                <a:latin typeface="Calibri"/>
              </a:rPr>
              <a:t>● </a:t>
            </a:r>
            <a:r>
              <a:rPr sz="1400">
                <a:solidFill>
                  <a:srgbClr val="0F2040"/>
                </a:solidFill>
                <a:latin typeface="Calibri"/>
              </a:rPr>
              <a:t>¿Hay usuarios inactivos con sesiones recientes?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F2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6583680"/>
            <a:ext cx="64008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Asesorías Integrales CyJ · Capacitación Auditor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6583680"/>
            <a:ext cx="45720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900" b="0">
                <a:solidFill>
                  <a:srgbClr val="F59E0B"/>
                </a:solidFill>
                <a:latin typeface="Calibri"/>
              </a:rPr>
              <a:t>https://condominios-cyj.vercel.app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11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00584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No puedes hacer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137160"/>
            <a:ext cx="73152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400" b="0">
                <a:solidFill>
                  <a:srgbClr val="F59E0B"/>
                </a:solidFill>
                <a:latin typeface="Calibri"/>
              </a:rPr>
              <a:t>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828800"/>
            <a:ext cx="10332720" cy="32004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828800"/>
            <a:ext cx="137160" cy="320040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2103120"/>
            <a:ext cx="1828800" cy="18288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8000" b="0">
                <a:solidFill>
                  <a:srgbClr val="DC2626"/>
                </a:solidFill>
                <a:latin typeface="Calibri"/>
              </a:rPr>
              <a:t>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0" y="2103120"/>
            <a:ext cx="7498079" cy="2743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800" b="0">
                <a:solidFill>
                  <a:srgbClr val="0F2040"/>
                </a:solidFill>
                <a:latin typeface="Calibri"/>
              </a:rPr>
              <a:t>El rol Auditor es ESTRICTAMENTE de solo lectura. No puedes:
✗ Crear, editar o eliminar cualquier registro
✗ Aprobar o rechazar OT/SC
✗ Crear usuarios o cambiar permisos
✗ Exportar reportes a PDF/Excel
✗ Registrar rondas
✗ Hacer respaldos o restauraciones
✗ Cambiar contraseñas de otros usuarios
Si detectas alguna anomalía, repórtala al administrador.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F2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583680"/>
            <a:ext cx="64008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Asesorías Integrales CyJ · Capacitación Auditor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6583680"/>
            <a:ext cx="45720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900" b="0">
                <a:solidFill>
                  <a:srgbClr val="F59E0B"/>
                </a:solidFill>
                <a:latin typeface="Calibri"/>
              </a:rPr>
              <a:t>https://condominios-cyj.vercel.app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11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00584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Buenas prácticas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137160"/>
            <a:ext cx="73152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400" b="0">
                <a:solidFill>
                  <a:srgbClr val="F59E0B"/>
                </a:solidFill>
                <a:latin typeface="Calibri"/>
              </a:rPr>
              <a:t>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828800"/>
            <a:ext cx="10332720" cy="32004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828800"/>
            <a:ext cx="137160" cy="32004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2103120"/>
            <a:ext cx="1828800" cy="18288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8000" b="0">
                <a:solidFill>
                  <a:srgbClr val="16A34A"/>
                </a:solidFill>
                <a:latin typeface="Calibri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0" y="2103120"/>
            <a:ext cx="7498079" cy="2743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800" b="0">
                <a:solidFill>
                  <a:srgbClr val="0F2040"/>
                </a:solidFill>
                <a:latin typeface="Calibri"/>
              </a:rPr>
              <a:t>✓ Documenta tus hallazgos con capturas de pantalla
✓ Verifica regularmente el módulo Auditoría
✓ Presta atención a acciones fuera de horario laboral
✓ Revisa que los flujos de aprobación se cumplan
✓ Verifica que no haya usuarios con permisos excesivos
✓ Reporta inmediatamente cualquier actividad sospechosa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F2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583680"/>
            <a:ext cx="64008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Asesorías Integrales CyJ · Capacitación Auditor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6583680"/>
            <a:ext cx="45720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900" b="0">
                <a:solidFill>
                  <a:srgbClr val="F59E0B"/>
                </a:solidFill>
                <a:latin typeface="Calibri"/>
              </a:rPr>
              <a:t>https://condominios-cyj.vercel.app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11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00584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Datos de Acceso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137160"/>
            <a:ext cx="73152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400" b="0">
                <a:solidFill>
                  <a:srgbClr val="F59E0B"/>
                </a:solidFill>
                <a:latin typeface="Calibri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1124712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Calibri"/>
              </a:rPr>
              <a:t>Credenciales de prueba para capacitación: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600" b="1">
                <a:solidFill>
                  <a:srgbClr val="666666"/>
                </a:solidFill>
                <a:latin typeface="Calibri"/>
              </a:rPr>
              <a:t>● </a:t>
            </a:r>
            <a:r>
              <a:rPr sz="1600">
                <a:solidFill>
                  <a:srgbClr val="0F2040"/>
                </a:solidFill>
                <a:latin typeface="Calibri"/>
              </a:rPr>
              <a:t>URL: https://condominios-cyj.vercel.app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600" b="1">
                <a:solidFill>
                  <a:srgbClr val="666666"/>
                </a:solidFill>
                <a:latin typeface="Calibri"/>
              </a:rPr>
              <a:t>● </a:t>
            </a:r>
            <a:r>
              <a:rPr sz="1600">
                <a:solidFill>
                  <a:srgbClr val="0F2040"/>
                </a:solidFill>
                <a:latin typeface="Calibri"/>
              </a:rPr>
              <a:t>Email: auditor.test@cyj.cl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600" b="1">
                <a:solidFill>
                  <a:srgbClr val="666666"/>
                </a:solidFill>
                <a:latin typeface="Calibri"/>
              </a:rPr>
              <a:t>● </a:t>
            </a:r>
            <a:r>
              <a:rPr sz="1600">
                <a:solidFill>
                  <a:srgbClr val="0F2040"/>
                </a:solidFill>
                <a:latin typeface="Calibri"/>
              </a:rPr>
              <a:t>Contraseña temporal: Auditor2026!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600" b="1">
                <a:solidFill>
                  <a:srgbClr val="666666"/>
                </a:solidFill>
                <a:latin typeface="Calibri"/>
              </a:rPr>
              <a:t>● </a:t>
            </a:r>
            <a:r>
              <a:rPr sz="1600">
                <a:solidFill>
                  <a:srgbClr val="0F2040"/>
                </a:solidFill>
                <a:latin typeface="Calibri"/>
              </a:rPr>
              <a:t>Deberás cambiar la contraseña en el primer login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600" b="1">
                <a:solidFill>
                  <a:srgbClr val="666666"/>
                </a:solidFill>
                <a:latin typeface="Calibri"/>
              </a:rPr>
              <a:t>● </a:t>
            </a:r>
            <a:r>
              <a:rPr sz="1600">
                <a:solidFill>
                  <a:srgbClr val="0F2040"/>
                </a:solidFill>
                <a:latin typeface="Calibri"/>
              </a:rPr>
              <a:t>Página de inicio: /sistema (dashboard)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F2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83680"/>
            <a:ext cx="64008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Asesorías Integrales CyJ · Capacitación Auditor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6583680"/>
            <a:ext cx="45720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900" b="0">
                <a:solidFill>
                  <a:srgbClr val="F59E0B"/>
                </a:solidFill>
                <a:latin typeface="Calibri"/>
              </a:rPr>
              <a:t>https://condominios-cyj.vercel.app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7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0"/>
            <a:ext cx="10698480" cy="9144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7200" b="1">
                <a:solidFill>
                  <a:srgbClr val="FFFFFF"/>
                </a:solidFill>
                <a:latin typeface="Calibri"/>
              </a:rPr>
              <a:t>¡Listo!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0"/>
            <a:ext cx="1069848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2200" b="0">
                <a:solidFill>
                  <a:srgbClr val="F1F5F9"/>
                </a:solidFill>
                <a:latin typeface="Calibri"/>
              </a:rPr>
              <a:t>Ya puedes comenzar a usar el sistema como Auditor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754880"/>
            <a:ext cx="106984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400" b="0">
                <a:solidFill>
                  <a:srgbClr val="F59E0B"/>
                </a:solidFill>
                <a:latin typeface="Calibri"/>
              </a:rPr>
              <a:t>Si tienes dudas, consulta el Manual de Usuario o contacta al administrador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852160"/>
            <a:ext cx="106984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asesoriasintegralescyj@gmail.com  ·  +56 964 650 643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