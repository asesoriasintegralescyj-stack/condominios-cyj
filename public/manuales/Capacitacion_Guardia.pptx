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172"/>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0" y="731520"/>
            <a:ext cx="2103120" cy="21031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731520"/>
            <a:ext cx="2103120" cy="2103120"/>
          </a:xfrm>
          <a:prstGeom prst="rect">
            <a:avLst/>
          </a:prstGeom>
          <a:noFill/>
        </p:spPr>
        <p:txBody>
          <a:bodyPr wrap="square" anchor="ctr" lIns="45720" rIns="45720">
            <a:spAutoFit/>
          </a:bodyPr>
          <a:lstStyle/>
          <a:p>
            <a:pPr algn="ctr"/>
            <a:r>
              <a:rPr sz="8000" b="1">
                <a:solidFill>
                  <a:srgbClr val="0A1172"/>
                </a:solidFill>
                <a:latin typeface="Calibri"/>
              </a:rPr>
              <a:t>📱</a:t>
            </a:r>
          </a:p>
        </p:txBody>
      </p:sp>
      <p:sp>
        <p:nvSpPr>
          <p:cNvPr id="5" name="TextBox 4"/>
          <p:cNvSpPr txBox="1"/>
          <p:nvPr/>
        </p:nvSpPr>
        <p:spPr>
          <a:xfrm>
            <a:off x="731520" y="3108960"/>
            <a:ext cx="10698480" cy="640080"/>
          </a:xfrm>
          <a:prstGeom prst="rect">
            <a:avLst/>
          </a:prstGeom>
          <a:noFill/>
        </p:spPr>
        <p:txBody>
          <a:bodyPr wrap="square" anchor="t" lIns="45720" rIns="45720">
            <a:spAutoFit/>
          </a:bodyPr>
          <a:lstStyle/>
          <a:p>
            <a:pPr algn="ctr"/>
            <a:r>
              <a:rPr sz="1800" b="1">
                <a:solidFill>
                  <a:srgbClr val="F59E0B"/>
                </a:solidFill>
                <a:latin typeface="Calibri"/>
              </a:rPr>
              <a:t>CAPACITACIÓN SISTEMA DE GESTIÓN</a:t>
            </a:r>
          </a:p>
        </p:txBody>
      </p:sp>
      <p:sp>
        <p:nvSpPr>
          <p:cNvPr id="6" name="TextBox 5"/>
          <p:cNvSpPr txBox="1"/>
          <p:nvPr/>
        </p:nvSpPr>
        <p:spPr>
          <a:xfrm>
            <a:off x="731520" y="3749039"/>
            <a:ext cx="10698480" cy="1097280"/>
          </a:xfrm>
          <a:prstGeom prst="rect">
            <a:avLst/>
          </a:prstGeom>
          <a:noFill/>
        </p:spPr>
        <p:txBody>
          <a:bodyPr wrap="square" anchor="t" lIns="45720" rIns="45720">
            <a:spAutoFit/>
          </a:bodyPr>
          <a:lstStyle/>
          <a:p>
            <a:pPr algn="ctr"/>
            <a:r>
              <a:rPr sz="4400" b="1">
                <a:solidFill>
                  <a:srgbClr val="FFFFFF"/>
                </a:solidFill>
                <a:latin typeface="Calibri"/>
              </a:rPr>
              <a:t>Rol: Guardia</a:t>
            </a:r>
          </a:p>
        </p:txBody>
      </p:sp>
      <p:sp>
        <p:nvSpPr>
          <p:cNvPr id="7" name="TextBox 6"/>
          <p:cNvSpPr txBox="1"/>
          <p:nvPr/>
        </p:nvSpPr>
        <p:spPr>
          <a:xfrm>
            <a:off x="731520" y="4846320"/>
            <a:ext cx="10698480" cy="548640"/>
          </a:xfrm>
          <a:prstGeom prst="rect">
            <a:avLst/>
          </a:prstGeom>
          <a:noFill/>
        </p:spPr>
        <p:txBody>
          <a:bodyPr wrap="square" anchor="t" lIns="45720" rIns="45720">
            <a:spAutoFit/>
          </a:bodyPr>
          <a:lstStyle/>
          <a:p>
            <a:pPr algn="ctr"/>
            <a:r>
              <a:rPr sz="1800" b="0">
                <a:solidFill>
                  <a:srgbClr val="F1F5F9"/>
                </a:solidFill>
                <a:latin typeface="Calibri"/>
              </a:rPr>
              <a:t>Control de Rondas — página dedicada</a:t>
            </a:r>
          </a:p>
        </p:txBody>
      </p:sp>
      <p:sp>
        <p:nvSpPr>
          <p:cNvPr id="8" name="TextBox 7"/>
          <p:cNvSpPr txBox="1"/>
          <p:nvPr/>
        </p:nvSpPr>
        <p:spPr>
          <a:xfrm>
            <a:off x="731520" y="5852160"/>
            <a:ext cx="10698480" cy="457200"/>
          </a:xfrm>
          <a:prstGeom prst="rect">
            <a:avLst/>
          </a:prstGeom>
          <a:noFill/>
        </p:spPr>
        <p:txBody>
          <a:bodyPr wrap="square" anchor="t" lIns="45720" rIns="45720">
            <a:spAutoFit/>
          </a:bodyPr>
          <a:lstStyle/>
          <a:p>
            <a:pPr algn="ctr"/>
            <a:r>
              <a:rPr sz="1400" b="1">
                <a:solidFill>
                  <a:srgbClr val="F59E0B"/>
                </a:solidFill>
                <a:latin typeface="Calibri"/>
              </a:rPr>
              <a:t>Condominio Laguna Norte  ·  Junio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A1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058400" cy="548640"/>
          </a:xfrm>
          <a:prstGeom prst="rect">
            <a:avLst/>
          </a:prstGeom>
          <a:noFill/>
        </p:spPr>
        <p:txBody>
          <a:bodyPr wrap="square" anchor="ctr" lIns="45720" rIns="45720">
            <a:spAutoFit/>
          </a:bodyPr>
          <a:lstStyle/>
          <a:p>
            <a:pPr algn="l"/>
            <a:r>
              <a:rPr sz="2200" b="1">
                <a:solidFill>
                  <a:srgbClr val="FFFFFF"/>
                </a:solidFill>
                <a:latin typeface="Calibri"/>
              </a:rPr>
              <a:t>Tu Rol y Responsabilidades</a:t>
            </a:r>
          </a:p>
        </p:txBody>
      </p:sp>
      <p:sp>
        <p:nvSpPr>
          <p:cNvPr id="4" name="TextBox 3"/>
          <p:cNvSpPr txBox="1"/>
          <p:nvPr/>
        </p:nvSpPr>
        <p:spPr>
          <a:xfrm>
            <a:off x="11247120" y="137160"/>
            <a:ext cx="731520" cy="548640"/>
          </a:xfrm>
          <a:prstGeom prst="rect">
            <a:avLst/>
          </a:prstGeom>
          <a:noFill/>
        </p:spPr>
        <p:txBody>
          <a:bodyPr wrap="square" anchor="ctr" lIns="45720" rIns="45720">
            <a:spAutoFit/>
          </a:bodyPr>
          <a:lstStyle/>
          <a:p>
            <a:pPr algn="r"/>
            <a:r>
              <a:rPr sz="1400" b="0">
                <a:solidFill>
                  <a:srgbClr val="F59E0B"/>
                </a:solidFill>
                <a:latin typeface="Calibri"/>
              </a:rPr>
              <a:t>2</a:t>
            </a:r>
          </a:p>
        </p:txBody>
      </p:sp>
      <p:sp>
        <p:nvSpPr>
          <p:cNvPr id="5" name="TextBox 4"/>
          <p:cNvSpPr txBox="1"/>
          <p:nvPr/>
        </p:nvSpPr>
        <p:spPr>
          <a:xfrm>
            <a:off x="457200" y="1005840"/>
            <a:ext cx="11247120" cy="731520"/>
          </a:xfrm>
          <a:prstGeom prst="rect">
            <a:avLst/>
          </a:prstGeom>
          <a:noFill/>
        </p:spPr>
        <p:txBody>
          <a:bodyPr wrap="square" anchor="t" lIns="45720" rIns="45720">
            <a:spAutoFit/>
          </a:bodyPr>
          <a:lstStyle/>
          <a:p>
            <a:pPr algn="l"/>
            <a:r>
              <a:rPr sz="1400" b="0">
                <a:solidFill>
                  <a:srgbClr val="666666"/>
                </a:solidFill>
                <a:latin typeface="Calibri"/>
              </a:rPr>
              <a:t>Como Guardia tienes una función específica: registrar las rondas escaneando los QR de los postos.</a:t>
            </a:r>
          </a:p>
        </p:txBody>
      </p:sp>
      <p:sp>
        <p:nvSpPr>
          <p:cNvPr id="6" name="TextBox 5"/>
          <p:cNvSpPr txBox="1"/>
          <p:nvPr/>
        </p:nvSpPr>
        <p:spPr>
          <a:xfrm>
            <a:off x="640080" y="1828800"/>
            <a:ext cx="10972800" cy="4572000"/>
          </a:xfrm>
          <a:prstGeom prst="rect">
            <a:avLst/>
          </a:prstGeom>
          <a:noFill/>
        </p:spPr>
        <p:txBody>
          <a:bodyPr wrap="square">
            <a:spAutoFit/>
          </a:bodyPr>
          <a:lstStyle/>
          <a:p>
            <a:pPr algn="l">
              <a:lnSpc>
                <a:spcPct val="140000"/>
              </a:lnSpc>
              <a:spcAft>
                <a:spcPts val="800"/>
              </a:spcAft>
            </a:pPr>
            <a:r>
              <a:rPr sz="1600" b="1">
                <a:solidFill>
                  <a:srgbClr val="F59E0B"/>
                </a:solidFill>
                <a:latin typeface="Calibri"/>
              </a:rPr>
              <a:t>● </a:t>
            </a:r>
            <a:r>
              <a:rPr sz="1600">
                <a:solidFill>
                  <a:srgbClr val="0F2040"/>
                </a:solidFill>
                <a:latin typeface="Calibri"/>
              </a:rPr>
              <a:t>Registrar rondas escaneando QR con la cámara del celular</a:t>
            </a:r>
          </a:p>
          <a:p>
            <a:pPr algn="l">
              <a:lnSpc>
                <a:spcPct val="140000"/>
              </a:lnSpc>
              <a:spcAft>
                <a:spcPts val="800"/>
              </a:spcAft>
            </a:pPr>
            <a:r>
              <a:rPr sz="1600" b="1">
                <a:solidFill>
                  <a:srgbClr val="F59E0B"/>
                </a:solidFill>
                <a:latin typeface="Calibri"/>
              </a:rPr>
              <a:t>● </a:t>
            </a:r>
            <a:r>
              <a:rPr sz="1600">
                <a:solidFill>
                  <a:srgbClr val="0F2040"/>
                </a:solidFill>
                <a:latin typeface="Calibri"/>
              </a:rPr>
              <a:t>Pasar por todos los postos de tu etapa en cada ronda</a:t>
            </a:r>
          </a:p>
          <a:p>
            <a:pPr algn="l">
              <a:lnSpc>
                <a:spcPct val="140000"/>
              </a:lnSpc>
              <a:spcAft>
                <a:spcPts val="800"/>
              </a:spcAft>
            </a:pPr>
            <a:r>
              <a:rPr sz="1600" b="1">
                <a:solidFill>
                  <a:srgbClr val="F59E0B"/>
                </a:solidFill>
                <a:latin typeface="Calibri"/>
              </a:rPr>
              <a:t>● </a:t>
            </a:r>
            <a:r>
              <a:rPr sz="1600">
                <a:solidFill>
                  <a:srgbClr val="0F2040"/>
                </a:solidFill>
                <a:latin typeface="Calibri"/>
              </a:rPr>
              <a:t>Mantener el dispositivo cargado y con cámara funcional</a:t>
            </a:r>
          </a:p>
          <a:p>
            <a:pPr algn="l">
              <a:lnSpc>
                <a:spcPct val="140000"/>
              </a:lnSpc>
              <a:spcAft>
                <a:spcPts val="800"/>
              </a:spcAft>
            </a:pPr>
            <a:r>
              <a:rPr sz="1600" b="1">
                <a:solidFill>
                  <a:srgbClr val="F59E0B"/>
                </a:solidFill>
                <a:latin typeface="Calibri"/>
              </a:rPr>
              <a:t>● </a:t>
            </a:r>
            <a:r>
              <a:rPr sz="1600">
                <a:solidFill>
                  <a:srgbClr val="0F2040"/>
                </a:solidFill>
                <a:latin typeface="Calibri"/>
              </a:rPr>
              <a:t>Reportar problemas con QR dañados o ilegibles</a:t>
            </a:r>
          </a:p>
          <a:p>
            <a:pPr algn="l">
              <a:lnSpc>
                <a:spcPct val="140000"/>
              </a:lnSpc>
              <a:spcAft>
                <a:spcPts val="800"/>
              </a:spcAft>
            </a:pPr>
            <a:r>
              <a:rPr sz="1600" b="1">
                <a:solidFill>
                  <a:srgbClr val="F59E0B"/>
                </a:solidFill>
                <a:latin typeface="Calibri"/>
              </a:rPr>
              <a:t>● </a:t>
            </a:r>
            <a:r>
              <a:rPr sz="1600">
                <a:solidFill>
                  <a:srgbClr val="0F2040"/>
                </a:solidFill>
                <a:latin typeface="Calibri"/>
              </a:rPr>
              <a:t>Cerrar sesión al terminar tu turno</a:t>
            </a:r>
          </a:p>
        </p:txBody>
      </p:sp>
      <p:sp>
        <p:nvSpPr>
          <p:cNvPr id="7" name="Rectangle 6"/>
          <p:cNvSpPr/>
          <p:nvPr/>
        </p:nvSpPr>
        <p:spPr>
          <a:xfrm>
            <a:off x="0" y="6583680"/>
            <a:ext cx="12191695" cy="274320"/>
          </a:xfrm>
          <a:prstGeom prst="rect">
            <a:avLst/>
          </a:prstGeom>
          <a:solidFill>
            <a:srgbClr val="0F2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83680"/>
            <a:ext cx="6400800" cy="274320"/>
          </a:xfrm>
          <a:prstGeom prst="rect">
            <a:avLst/>
          </a:prstGeom>
          <a:noFill/>
        </p:spPr>
        <p:txBody>
          <a:bodyPr wrap="square" anchor="ctr" lIns="45720" rIns="45720">
            <a:spAutoFit/>
          </a:bodyPr>
          <a:lstStyle/>
          <a:p>
            <a:pPr algn="l"/>
            <a:r>
              <a:rPr sz="900" b="0">
                <a:solidFill>
                  <a:srgbClr val="FFFFFF"/>
                </a:solidFill>
                <a:latin typeface="Calibri"/>
              </a:rPr>
              <a:t>Asesorías Integrales CyJ · Capacitación Guardia</a:t>
            </a:r>
          </a:p>
        </p:txBody>
      </p:sp>
      <p:sp>
        <p:nvSpPr>
          <p:cNvPr id="9" name="TextBox 8"/>
          <p:cNvSpPr txBox="1"/>
          <p:nvPr/>
        </p:nvSpPr>
        <p:spPr>
          <a:xfrm>
            <a:off x="7315200" y="6583680"/>
            <a:ext cx="4572000" cy="274320"/>
          </a:xfrm>
          <a:prstGeom prst="rect">
            <a:avLst/>
          </a:prstGeom>
          <a:noFill/>
        </p:spPr>
        <p:txBody>
          <a:bodyPr wrap="square" anchor="ctr" lIns="45720" rIns="45720">
            <a:spAutoFit/>
          </a:bodyPr>
          <a:lstStyle/>
          <a:p>
            <a:pPr algn="r"/>
            <a:r>
              <a:rPr sz="900" b="0">
                <a:solidFill>
                  <a:srgbClr val="F59E0B"/>
                </a:solidFill>
                <a:latin typeface="Calibri"/>
              </a:rPr>
              <a:t>https://condominios-cyj.vercel.app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A1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058400" cy="548640"/>
          </a:xfrm>
          <a:prstGeom prst="rect">
            <a:avLst/>
          </a:prstGeom>
          <a:noFill/>
        </p:spPr>
        <p:txBody>
          <a:bodyPr wrap="square" anchor="ctr" lIns="45720" rIns="45720">
            <a:spAutoFit/>
          </a:bodyPr>
          <a:lstStyle/>
          <a:p>
            <a:pPr algn="l"/>
            <a:r>
              <a:rPr sz="2200" b="1">
                <a:solidFill>
                  <a:srgbClr val="FFFFFF"/>
                </a:solidFill>
                <a:latin typeface="Calibri"/>
              </a:rPr>
              <a:t>Página dedicada: /rondas-guardia</a:t>
            </a:r>
          </a:p>
        </p:txBody>
      </p:sp>
      <p:sp>
        <p:nvSpPr>
          <p:cNvPr id="4" name="TextBox 3"/>
          <p:cNvSpPr txBox="1"/>
          <p:nvPr/>
        </p:nvSpPr>
        <p:spPr>
          <a:xfrm>
            <a:off x="11247120" y="137160"/>
            <a:ext cx="731520" cy="548640"/>
          </a:xfrm>
          <a:prstGeom prst="rect">
            <a:avLst/>
          </a:prstGeom>
          <a:noFill/>
        </p:spPr>
        <p:txBody>
          <a:bodyPr wrap="square" anchor="ctr" lIns="45720" rIns="45720">
            <a:spAutoFit/>
          </a:bodyPr>
          <a:lstStyle/>
          <a:p>
            <a:pPr algn="r"/>
            <a:r>
              <a:rPr sz="1400" b="0">
                <a:solidFill>
                  <a:srgbClr val="F59E0B"/>
                </a:solidFill>
                <a:latin typeface="Calibri"/>
              </a:rPr>
              <a:t>3</a:t>
            </a:r>
          </a:p>
        </p:txBody>
      </p:sp>
      <p:sp>
        <p:nvSpPr>
          <p:cNvPr id="5" name="Rounded Rectangle 4"/>
          <p:cNvSpPr/>
          <p:nvPr/>
        </p:nvSpPr>
        <p:spPr>
          <a:xfrm>
            <a:off x="914400" y="1828800"/>
            <a:ext cx="10332720" cy="320040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828800"/>
            <a:ext cx="137160" cy="32004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2103120"/>
            <a:ext cx="1828800" cy="1828800"/>
          </a:xfrm>
          <a:prstGeom prst="rect">
            <a:avLst/>
          </a:prstGeom>
          <a:noFill/>
        </p:spPr>
        <p:txBody>
          <a:bodyPr wrap="square" anchor="ctr" lIns="45720" rIns="45720">
            <a:spAutoFit/>
          </a:bodyPr>
          <a:lstStyle/>
          <a:p>
            <a:pPr algn="ctr"/>
            <a:r>
              <a:rPr sz="8000" b="0">
                <a:solidFill>
                  <a:srgbClr val="0369A1"/>
                </a:solidFill>
                <a:latin typeface="Calibri"/>
              </a:rPr>
              <a:t>ℹ️</a:t>
            </a:r>
          </a:p>
        </p:txBody>
      </p:sp>
      <p:sp>
        <p:nvSpPr>
          <p:cNvPr id="8" name="TextBox 7"/>
          <p:cNvSpPr txBox="1"/>
          <p:nvPr/>
        </p:nvSpPr>
        <p:spPr>
          <a:xfrm>
            <a:off x="3474720" y="2103120"/>
            <a:ext cx="7498079" cy="2743200"/>
          </a:xfrm>
          <a:prstGeom prst="rect">
            <a:avLst/>
          </a:prstGeom>
          <a:noFill/>
        </p:spPr>
        <p:txBody>
          <a:bodyPr wrap="square" anchor="ctr" lIns="45720" rIns="45720">
            <a:spAutoFit/>
          </a:bodyPr>
          <a:lstStyle/>
          <a:p>
            <a:pPr algn="l"/>
            <a:r>
              <a:rPr sz="1800" b="0">
                <a:solidFill>
                  <a:srgbClr val="0F2040"/>
                </a:solidFill>
                <a:latin typeface="Calibri"/>
              </a:rPr>
              <a:t>El rol Guardia tiene una PÁGINA DEDICADA que reemplaza completamente el sistema. NO ves sidebar, NO ves dashboard, NO ves OT ni otros módulos. SOLO ves el botón grande "REGISTRAR RONDA" que abre la cámara automáticamente. Es la interfaz más simple del sistema, diseñada para uso rápido en terreno.</a:t>
            </a:r>
          </a:p>
        </p:txBody>
      </p:sp>
      <p:sp>
        <p:nvSpPr>
          <p:cNvPr id="9" name="Rectangle 8"/>
          <p:cNvSpPr/>
          <p:nvPr/>
        </p:nvSpPr>
        <p:spPr>
          <a:xfrm>
            <a:off x="0" y="6583680"/>
            <a:ext cx="12191695" cy="274320"/>
          </a:xfrm>
          <a:prstGeom prst="rect">
            <a:avLst/>
          </a:prstGeom>
          <a:solidFill>
            <a:srgbClr val="0F2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83680"/>
            <a:ext cx="6400800" cy="274320"/>
          </a:xfrm>
          <a:prstGeom prst="rect">
            <a:avLst/>
          </a:prstGeom>
          <a:noFill/>
        </p:spPr>
        <p:txBody>
          <a:bodyPr wrap="square" anchor="ctr" lIns="45720" rIns="45720">
            <a:spAutoFit/>
          </a:bodyPr>
          <a:lstStyle/>
          <a:p>
            <a:pPr algn="l"/>
            <a:r>
              <a:rPr sz="900" b="0">
                <a:solidFill>
                  <a:srgbClr val="FFFFFF"/>
                </a:solidFill>
                <a:latin typeface="Calibri"/>
              </a:rPr>
              <a:t>Asesorías Integrales CyJ · Capacitación Guardia</a:t>
            </a:r>
          </a:p>
        </p:txBody>
      </p:sp>
      <p:sp>
        <p:nvSpPr>
          <p:cNvPr id="11" name="TextBox 10"/>
          <p:cNvSpPr txBox="1"/>
          <p:nvPr/>
        </p:nvSpPr>
        <p:spPr>
          <a:xfrm>
            <a:off x="7315200" y="6583680"/>
            <a:ext cx="4572000" cy="274320"/>
          </a:xfrm>
          <a:prstGeom prst="rect">
            <a:avLst/>
          </a:prstGeom>
          <a:noFill/>
        </p:spPr>
        <p:txBody>
          <a:bodyPr wrap="square" anchor="ctr" lIns="45720" rIns="45720">
            <a:spAutoFit/>
          </a:bodyPr>
          <a:lstStyle/>
          <a:p>
            <a:pPr algn="r"/>
            <a:r>
              <a:rPr sz="900" b="0">
                <a:solidFill>
                  <a:srgbClr val="F59E0B"/>
                </a:solidFill>
                <a:latin typeface="Calibri"/>
              </a:rPr>
              <a:t>https://condominios-cyj.vercel.app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2040"/>
        </a:solidFill>
        <a:effectLst/>
      </p:bgPr>
    </p:bg>
    <p:spTree>
      <p:nvGrpSpPr>
        <p:cNvPr id="1" name=""/>
        <p:cNvGrpSpPr/>
        <p:nvPr/>
      </p:nvGrpSpPr>
      <p:grpSpPr/>
      <p:sp>
        <p:nvSpPr>
          <p:cNvPr id="2" name="Rectangle 1"/>
          <p:cNvSpPr/>
          <p:nvPr/>
        </p:nvSpPr>
        <p:spPr>
          <a:xfrm>
            <a:off x="0" y="3108960"/>
            <a:ext cx="12191695"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560320"/>
            <a:ext cx="10698480" cy="640080"/>
          </a:xfrm>
          <a:prstGeom prst="rect">
            <a:avLst/>
          </a:prstGeom>
          <a:noFill/>
        </p:spPr>
        <p:txBody>
          <a:bodyPr wrap="square" anchor="ctr" lIns="45720" rIns="45720">
            <a:spAutoFit/>
          </a:bodyPr>
          <a:lstStyle/>
          <a:p>
            <a:pPr algn="ctr"/>
            <a:r>
              <a:rPr sz="3600" b="1">
                <a:solidFill>
                  <a:srgbClr val="FFFFFF"/>
                </a:solidFill>
                <a:latin typeface="Calibri"/>
              </a:rPr>
              <a:t>Cómo registrar una ronda</a:t>
            </a:r>
          </a:p>
        </p:txBody>
      </p:sp>
      <p:sp>
        <p:nvSpPr>
          <p:cNvPr id="4" name="Rectangle 3"/>
          <p:cNvSpPr/>
          <p:nvPr/>
        </p:nvSpPr>
        <p:spPr>
          <a:xfrm>
            <a:off x="0" y="6583680"/>
            <a:ext cx="12191695" cy="274320"/>
          </a:xfrm>
          <a:prstGeom prst="rect">
            <a:avLst/>
          </a:prstGeom>
          <a:solidFill>
            <a:srgbClr val="0F2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583680"/>
            <a:ext cx="6400800" cy="274320"/>
          </a:xfrm>
          <a:prstGeom prst="rect">
            <a:avLst/>
          </a:prstGeom>
          <a:noFill/>
        </p:spPr>
        <p:txBody>
          <a:bodyPr wrap="square" anchor="ctr" lIns="45720" rIns="45720">
            <a:spAutoFit/>
          </a:bodyPr>
          <a:lstStyle/>
          <a:p>
            <a:pPr algn="l"/>
            <a:r>
              <a:rPr sz="900" b="0">
                <a:solidFill>
                  <a:srgbClr val="FFFFFF"/>
                </a:solidFill>
                <a:latin typeface="Calibri"/>
              </a:rPr>
              <a:t>Asesorías Integrales CyJ · Capacitación Guardia</a:t>
            </a:r>
          </a:p>
        </p:txBody>
      </p:sp>
      <p:sp>
        <p:nvSpPr>
          <p:cNvPr id="6" name="TextBox 5"/>
          <p:cNvSpPr txBox="1"/>
          <p:nvPr/>
        </p:nvSpPr>
        <p:spPr>
          <a:xfrm>
            <a:off x="7315200" y="6583680"/>
            <a:ext cx="4572000" cy="274320"/>
          </a:xfrm>
          <a:prstGeom prst="rect">
            <a:avLst/>
          </a:prstGeom>
          <a:noFill/>
        </p:spPr>
        <p:txBody>
          <a:bodyPr wrap="square" anchor="ctr" lIns="45720" rIns="45720">
            <a:spAutoFit/>
          </a:bodyPr>
          <a:lstStyle/>
          <a:p>
            <a:pPr algn="r"/>
            <a:r>
              <a:rPr sz="900" b="0">
                <a:solidFill>
                  <a:srgbClr val="F59E0B"/>
                </a:solidFill>
                <a:latin typeface="Calibri"/>
              </a:rPr>
              <a:t>https://condominios-cyj.vercel.app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A1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058400" cy="548640"/>
          </a:xfrm>
          <a:prstGeom prst="rect">
            <a:avLst/>
          </a:prstGeom>
          <a:noFill/>
        </p:spPr>
        <p:txBody>
          <a:bodyPr wrap="square" anchor="ctr" lIns="45720" rIns="45720">
            <a:spAutoFit/>
          </a:bodyPr>
          <a:lstStyle/>
          <a:p>
            <a:pPr algn="l"/>
            <a:r>
              <a:rPr sz="2200" b="1">
                <a:solidFill>
                  <a:srgbClr val="FFFFFF"/>
                </a:solidFill>
                <a:latin typeface="Calibri"/>
              </a:rPr>
              <a:t>Flujo: Registrar Ronda</a:t>
            </a:r>
          </a:p>
        </p:txBody>
      </p:sp>
      <p:sp>
        <p:nvSpPr>
          <p:cNvPr id="4" name="TextBox 3"/>
          <p:cNvSpPr txBox="1"/>
          <p:nvPr/>
        </p:nvSpPr>
        <p:spPr>
          <a:xfrm>
            <a:off x="11247120" y="137160"/>
            <a:ext cx="731520" cy="548640"/>
          </a:xfrm>
          <a:prstGeom prst="rect">
            <a:avLst/>
          </a:prstGeom>
          <a:noFill/>
        </p:spPr>
        <p:txBody>
          <a:bodyPr wrap="square" anchor="ctr" lIns="45720" rIns="45720">
            <a:spAutoFit/>
          </a:bodyPr>
          <a:lstStyle/>
          <a:p>
            <a:pPr algn="r"/>
            <a:r>
              <a:rPr sz="1400" b="0">
                <a:solidFill>
                  <a:srgbClr val="F59E0B"/>
                </a:solidFill>
                <a:latin typeface="Calibri"/>
              </a:rPr>
              <a:t>5</a:t>
            </a:r>
          </a:p>
        </p:txBody>
      </p:sp>
      <p:sp>
        <p:nvSpPr>
          <p:cNvPr id="5" name="TextBox 4"/>
          <p:cNvSpPr txBox="1"/>
          <p:nvPr/>
        </p:nvSpPr>
        <p:spPr>
          <a:xfrm>
            <a:off x="457200" y="1005840"/>
            <a:ext cx="11247120" cy="548640"/>
          </a:xfrm>
          <a:prstGeom prst="rect">
            <a:avLst/>
          </a:prstGeom>
          <a:noFill/>
        </p:spPr>
        <p:txBody>
          <a:bodyPr wrap="square" anchor="t" lIns="45720" rIns="45720">
            <a:spAutoFit/>
          </a:bodyPr>
          <a:lstStyle/>
          <a:p>
            <a:pPr algn="l"/>
            <a:r>
              <a:rPr sz="1400" b="0">
                <a:solidFill>
                  <a:srgbClr val="666666"/>
                </a:solidFill>
                <a:latin typeface="Calibri"/>
              </a:rPr>
              <a:t>Pasos para registrar una ronda escaneando QR:</a:t>
            </a:r>
          </a:p>
        </p:txBody>
      </p:sp>
      <p:sp>
        <p:nvSpPr>
          <p:cNvPr id="6" name="TextBox 5"/>
          <p:cNvSpPr txBox="1"/>
          <p:nvPr/>
        </p:nvSpPr>
        <p:spPr>
          <a:xfrm>
            <a:off x="640080" y="1645920"/>
            <a:ext cx="10972800" cy="4572000"/>
          </a:xfrm>
          <a:prstGeom prst="rect">
            <a:avLst/>
          </a:prstGeom>
          <a:noFill/>
        </p:spPr>
        <p:txBody>
          <a:bodyPr wrap="square">
            <a:spAutoFit/>
          </a:bodyPr>
          <a:lstStyle/>
          <a:p>
            <a:pPr algn="l">
              <a:lnSpc>
                <a:spcPct val="150000"/>
              </a:lnSpc>
              <a:spcAft>
                <a:spcPts val="1000"/>
              </a:spcAft>
            </a:pPr>
            <a:r>
              <a:rPr sz="2000" b="1">
                <a:solidFill>
                  <a:srgbClr val="F59E0B"/>
                </a:solidFill>
                <a:latin typeface="Calibri"/>
              </a:rPr>
              <a:t>1.  </a:t>
            </a:r>
            <a:r>
              <a:rPr sz="1600">
                <a:solidFill>
                  <a:srgbClr val="0F2040"/>
                </a:solidFill>
                <a:latin typeface="Calibri"/>
              </a:rPr>
              <a:t>Inicia sesión con tu email y contraseña</a:t>
            </a:r>
          </a:p>
          <a:p>
            <a:pPr algn="l">
              <a:lnSpc>
                <a:spcPct val="150000"/>
              </a:lnSpc>
              <a:spcAft>
                <a:spcPts val="1000"/>
              </a:spcAft>
            </a:pPr>
            <a:r>
              <a:rPr sz="2000" b="1">
                <a:solidFill>
                  <a:srgbClr val="F59E0B"/>
                </a:solidFill>
                <a:latin typeface="Calibri"/>
              </a:rPr>
              <a:t>2.  </a:t>
            </a:r>
            <a:r>
              <a:rPr sz="1600">
                <a:solidFill>
                  <a:srgbClr val="0F2040"/>
                </a:solidFill>
                <a:latin typeface="Calibri"/>
              </a:rPr>
              <a:t>Si es primer login, cambia tu contraseña temporal</a:t>
            </a:r>
          </a:p>
          <a:p>
            <a:pPr algn="l">
              <a:lnSpc>
                <a:spcPct val="150000"/>
              </a:lnSpc>
              <a:spcAft>
                <a:spcPts val="1000"/>
              </a:spcAft>
            </a:pPr>
            <a:r>
              <a:rPr sz="2000" b="1">
                <a:solidFill>
                  <a:srgbClr val="F59E0B"/>
                </a:solidFill>
                <a:latin typeface="Calibri"/>
              </a:rPr>
              <a:t>3.  </a:t>
            </a:r>
            <a:r>
              <a:rPr sz="1600">
                <a:solidFill>
                  <a:srgbClr val="0F2040"/>
                </a:solidFill>
                <a:latin typeface="Calibri"/>
              </a:rPr>
              <a:t>Serás redirigido automáticamente a /rondas-guardia</a:t>
            </a:r>
          </a:p>
          <a:p>
            <a:pPr algn="l">
              <a:lnSpc>
                <a:spcPct val="150000"/>
              </a:lnSpc>
              <a:spcAft>
                <a:spcPts val="1000"/>
              </a:spcAft>
            </a:pPr>
            <a:r>
              <a:rPr sz="2000" b="1">
                <a:solidFill>
                  <a:srgbClr val="F59E0B"/>
                </a:solidFill>
                <a:latin typeface="Calibri"/>
              </a:rPr>
              <a:t>4.  </a:t>
            </a:r>
            <a:r>
              <a:rPr sz="1600">
                <a:solidFill>
                  <a:srgbClr val="0F2040"/>
                </a:solidFill>
                <a:latin typeface="Calibri"/>
              </a:rPr>
              <a:t>Verás UN SOLO botón grande circular ámbar "REGISTRAR RONDA"</a:t>
            </a:r>
          </a:p>
          <a:p>
            <a:pPr algn="l">
              <a:lnSpc>
                <a:spcPct val="150000"/>
              </a:lnSpc>
              <a:spcAft>
                <a:spcPts val="1000"/>
              </a:spcAft>
            </a:pPr>
            <a:r>
              <a:rPr sz="2000" b="1">
                <a:solidFill>
                  <a:srgbClr val="F59E0B"/>
                </a:solidFill>
                <a:latin typeface="Calibri"/>
              </a:rPr>
              <a:t>5.  </a:t>
            </a:r>
            <a:r>
              <a:rPr sz="1600">
                <a:solidFill>
                  <a:srgbClr val="0F2040"/>
                </a:solidFill>
                <a:latin typeface="Calibri"/>
              </a:rPr>
              <a:t>Presiona el botón → el navegador pedirá permiso de cámara (acepta)</a:t>
            </a:r>
          </a:p>
          <a:p>
            <a:pPr algn="l">
              <a:lnSpc>
                <a:spcPct val="150000"/>
              </a:lnSpc>
              <a:spcAft>
                <a:spcPts val="1000"/>
              </a:spcAft>
            </a:pPr>
            <a:r>
              <a:rPr sz="2000" b="1">
                <a:solidFill>
                  <a:srgbClr val="F59E0B"/>
                </a:solidFill>
                <a:latin typeface="Calibri"/>
              </a:rPr>
              <a:t>6.  </a:t>
            </a:r>
            <a:r>
              <a:rPr sz="1600">
                <a:solidFill>
                  <a:srgbClr val="0F2040"/>
                </a:solidFill>
                <a:latin typeface="Calibri"/>
              </a:rPr>
              <a:t>Apunta la cámara al QR del posto (10-15 cm de distancia)</a:t>
            </a:r>
          </a:p>
          <a:p>
            <a:pPr algn="l">
              <a:lnSpc>
                <a:spcPct val="150000"/>
              </a:lnSpc>
              <a:spcAft>
                <a:spcPts val="1000"/>
              </a:spcAft>
            </a:pPr>
            <a:r>
              <a:rPr sz="2000" b="1">
                <a:solidFill>
                  <a:srgbClr val="F59E0B"/>
                </a:solidFill>
                <a:latin typeface="Calibri"/>
              </a:rPr>
              <a:t>7.  </a:t>
            </a:r>
            <a:r>
              <a:rPr sz="1600">
                <a:solidFill>
                  <a:srgbClr val="0F2040"/>
                </a:solidFill>
                <a:latin typeface="Calibri"/>
              </a:rPr>
              <a:t>El sistema detecta el QR y registra automáticamente</a:t>
            </a:r>
          </a:p>
          <a:p>
            <a:pPr algn="l">
              <a:lnSpc>
                <a:spcPct val="150000"/>
              </a:lnSpc>
              <a:spcAft>
                <a:spcPts val="1000"/>
              </a:spcAft>
            </a:pPr>
            <a:r>
              <a:rPr sz="2000" b="1">
                <a:solidFill>
                  <a:srgbClr val="F59E0B"/>
                </a:solidFill>
                <a:latin typeface="Calibri"/>
              </a:rPr>
              <a:t>8.  </a:t>
            </a:r>
            <a:r>
              <a:rPr sz="1600">
                <a:solidFill>
                  <a:srgbClr val="0F2040"/>
                </a:solidFill>
                <a:latin typeface="Calibri"/>
              </a:rPr>
              <a:t>El celular vibra (corto = éxito) y aparece confirmación</a:t>
            </a:r>
          </a:p>
          <a:p>
            <a:pPr algn="l">
              <a:lnSpc>
                <a:spcPct val="150000"/>
              </a:lnSpc>
              <a:spcAft>
                <a:spcPts val="1000"/>
              </a:spcAft>
            </a:pPr>
            <a:r>
              <a:rPr sz="2000" b="1">
                <a:solidFill>
                  <a:srgbClr val="F59E0B"/>
                </a:solidFill>
                <a:latin typeface="Calibri"/>
              </a:rPr>
              <a:t>9.  </a:t>
            </a:r>
            <a:r>
              <a:rPr sz="1600">
                <a:solidFill>
                  <a:srgbClr val="0F2040"/>
                </a:solidFill>
                <a:latin typeface="Calibri"/>
              </a:rPr>
              <a:t>Puedes escanear varios postos en secuencia sin cerrar la cámara</a:t>
            </a:r>
          </a:p>
        </p:txBody>
      </p:sp>
      <p:sp>
        <p:nvSpPr>
          <p:cNvPr id="7" name="Rectangle 6"/>
          <p:cNvSpPr/>
          <p:nvPr/>
        </p:nvSpPr>
        <p:spPr>
          <a:xfrm>
            <a:off x="0" y="6583680"/>
            <a:ext cx="12191695" cy="274320"/>
          </a:xfrm>
          <a:prstGeom prst="rect">
            <a:avLst/>
          </a:prstGeom>
          <a:solidFill>
            <a:srgbClr val="0F2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83680"/>
            <a:ext cx="6400800" cy="274320"/>
          </a:xfrm>
          <a:prstGeom prst="rect">
            <a:avLst/>
          </a:prstGeom>
          <a:noFill/>
        </p:spPr>
        <p:txBody>
          <a:bodyPr wrap="square" anchor="ctr" lIns="45720" rIns="45720">
            <a:spAutoFit/>
          </a:bodyPr>
          <a:lstStyle/>
          <a:p>
            <a:pPr algn="l"/>
            <a:r>
              <a:rPr sz="900" b="0">
                <a:solidFill>
                  <a:srgbClr val="FFFFFF"/>
                </a:solidFill>
                <a:latin typeface="Calibri"/>
              </a:rPr>
              <a:t>Asesorías Integrales CyJ · Capacitación Guardia</a:t>
            </a:r>
          </a:p>
        </p:txBody>
      </p:sp>
      <p:sp>
        <p:nvSpPr>
          <p:cNvPr id="9" name="TextBox 8"/>
          <p:cNvSpPr txBox="1"/>
          <p:nvPr/>
        </p:nvSpPr>
        <p:spPr>
          <a:xfrm>
            <a:off x="7315200" y="6583680"/>
            <a:ext cx="4572000" cy="274320"/>
          </a:xfrm>
          <a:prstGeom prst="rect">
            <a:avLst/>
          </a:prstGeom>
          <a:noFill/>
        </p:spPr>
        <p:txBody>
          <a:bodyPr wrap="square" anchor="ctr" lIns="45720" rIns="45720">
            <a:spAutoFit/>
          </a:bodyPr>
          <a:lstStyle/>
          <a:p>
            <a:pPr algn="r"/>
            <a:r>
              <a:rPr sz="900" b="0">
                <a:solidFill>
                  <a:srgbClr val="F59E0B"/>
                </a:solidFill>
                <a:latin typeface="Calibri"/>
              </a:rPr>
              <a:t>https://condominios-cyj.vercel.app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A1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058400" cy="548640"/>
          </a:xfrm>
          <a:prstGeom prst="rect">
            <a:avLst/>
          </a:prstGeom>
          <a:noFill/>
        </p:spPr>
        <p:txBody>
          <a:bodyPr wrap="square" anchor="ctr" lIns="45720" rIns="45720">
            <a:spAutoFit/>
          </a:bodyPr>
          <a:lstStyle/>
          <a:p>
            <a:pPr algn="l"/>
            <a:r>
              <a:rPr sz="2200" b="1">
                <a:solidFill>
                  <a:srgbClr val="FFFFFF"/>
                </a:solidFill>
                <a:latin typeface="Calibri"/>
              </a:rPr>
              <a:t>Lo que se registra automáticamente</a:t>
            </a:r>
          </a:p>
        </p:txBody>
      </p:sp>
      <p:sp>
        <p:nvSpPr>
          <p:cNvPr id="4" name="TextBox 3"/>
          <p:cNvSpPr txBox="1"/>
          <p:nvPr/>
        </p:nvSpPr>
        <p:spPr>
          <a:xfrm>
            <a:off x="11247120" y="137160"/>
            <a:ext cx="731520" cy="548640"/>
          </a:xfrm>
          <a:prstGeom prst="rect">
            <a:avLst/>
          </a:prstGeom>
          <a:noFill/>
        </p:spPr>
        <p:txBody>
          <a:bodyPr wrap="square" anchor="ctr" lIns="45720" rIns="45720">
            <a:spAutoFit/>
          </a:bodyPr>
          <a:lstStyle/>
          <a:p>
            <a:pPr algn="r"/>
            <a:r>
              <a:rPr sz="1400" b="0">
                <a:solidFill>
                  <a:srgbClr val="F59E0B"/>
                </a:solidFill>
                <a:latin typeface="Calibri"/>
              </a:rPr>
              <a:t>6</a:t>
            </a:r>
          </a:p>
        </p:txBody>
      </p:sp>
      <p:sp>
        <p:nvSpPr>
          <p:cNvPr id="5" name="Rounded Rectangle 4"/>
          <p:cNvSpPr/>
          <p:nvPr/>
        </p:nvSpPr>
        <p:spPr>
          <a:xfrm>
            <a:off x="365760" y="1097280"/>
            <a:ext cx="5577840" cy="548640"/>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97280"/>
            <a:ext cx="5577840" cy="548640"/>
          </a:xfrm>
          <a:prstGeom prst="rect">
            <a:avLst/>
          </a:prstGeom>
          <a:noFill/>
        </p:spPr>
        <p:txBody>
          <a:bodyPr wrap="square" anchor="ctr" lIns="45720" rIns="45720">
            <a:spAutoFit/>
          </a:bodyPr>
          <a:lstStyle/>
          <a:p>
            <a:pPr algn="ctr"/>
            <a:r>
              <a:rPr sz="1800" b="1">
                <a:solidFill>
                  <a:srgbClr val="FFFFFF"/>
                </a:solidFill>
                <a:latin typeface="Calibri"/>
              </a:rPr>
              <a:t>Cada vez que escaneas un QR, se guarda:</a:t>
            </a:r>
          </a:p>
        </p:txBody>
      </p:sp>
      <p:sp>
        <p:nvSpPr>
          <p:cNvPr id="7" name="TextBox 6"/>
          <p:cNvSpPr txBox="1"/>
          <p:nvPr/>
        </p:nvSpPr>
        <p:spPr>
          <a:xfrm>
            <a:off x="457200" y="1828800"/>
            <a:ext cx="5394960" cy="4572000"/>
          </a:xfrm>
          <a:prstGeom prst="rect">
            <a:avLst/>
          </a:prstGeom>
          <a:noFill/>
        </p:spPr>
        <p:txBody>
          <a:bodyPr wrap="square">
            <a:spAutoFit/>
          </a:bodyPr>
          <a:lstStyle/>
          <a:p>
            <a:pPr algn="l">
              <a:lnSpc>
                <a:spcPct val="140000"/>
              </a:lnSpc>
              <a:spcAft>
                <a:spcPts val="800"/>
              </a:spcAft>
            </a:pPr>
            <a:r>
              <a:rPr sz="1400" b="1">
                <a:solidFill>
                  <a:srgbClr val="F59E0B"/>
                </a:solidFill>
                <a:latin typeface="Calibri"/>
              </a:rPr>
              <a:t>● </a:t>
            </a:r>
            <a:r>
              <a:rPr sz="1400">
                <a:solidFill>
                  <a:srgbClr val="0F2040"/>
                </a:solidFill>
                <a:latin typeface="Calibri"/>
              </a:rPr>
              <a:t>Ronda (nombre y código)</a:t>
            </a:r>
          </a:p>
          <a:p>
            <a:pPr algn="l">
              <a:lnSpc>
                <a:spcPct val="140000"/>
              </a:lnSpc>
              <a:spcAft>
                <a:spcPts val="800"/>
              </a:spcAft>
            </a:pPr>
            <a:r>
              <a:rPr sz="1400" b="1">
                <a:solidFill>
                  <a:srgbClr val="F59E0B"/>
                </a:solidFill>
                <a:latin typeface="Calibri"/>
              </a:rPr>
              <a:t>● </a:t>
            </a:r>
            <a:r>
              <a:rPr sz="1400">
                <a:solidFill>
                  <a:srgbClr val="0F2040"/>
                </a:solidFill>
                <a:latin typeface="Calibri"/>
              </a:rPr>
              <a:t>Etapa (ALBATROS, BANDURRIAS, BECACINAS, etc.)</a:t>
            </a:r>
          </a:p>
          <a:p>
            <a:pPr algn="l">
              <a:lnSpc>
                <a:spcPct val="140000"/>
              </a:lnSpc>
              <a:spcAft>
                <a:spcPts val="800"/>
              </a:spcAft>
            </a:pPr>
            <a:r>
              <a:rPr sz="1400" b="1">
                <a:solidFill>
                  <a:srgbClr val="F59E0B"/>
                </a:solidFill>
                <a:latin typeface="Calibri"/>
              </a:rPr>
              <a:t>● </a:t>
            </a:r>
            <a:r>
              <a:rPr sz="1400">
                <a:solidFill>
                  <a:srgbClr val="0F2040"/>
                </a:solidFill>
                <a:latin typeface="Calibri"/>
              </a:rPr>
              <a:t>Posto (1, 2, 3 o 4)</a:t>
            </a:r>
          </a:p>
          <a:p>
            <a:pPr algn="l">
              <a:lnSpc>
                <a:spcPct val="140000"/>
              </a:lnSpc>
              <a:spcAft>
                <a:spcPts val="800"/>
              </a:spcAft>
            </a:pPr>
            <a:r>
              <a:rPr sz="1400" b="1">
                <a:solidFill>
                  <a:srgbClr val="F59E0B"/>
                </a:solidFill>
                <a:latin typeface="Calibri"/>
              </a:rPr>
              <a:t>● </a:t>
            </a:r>
            <a:r>
              <a:rPr sz="1400">
                <a:solidFill>
                  <a:srgbClr val="0F2040"/>
                </a:solidFill>
                <a:latin typeface="Calibri"/>
              </a:rPr>
              <a:t>Fecha (YYYY-MM-DD)</a:t>
            </a:r>
          </a:p>
          <a:p>
            <a:pPr algn="l">
              <a:lnSpc>
                <a:spcPct val="140000"/>
              </a:lnSpc>
              <a:spcAft>
                <a:spcPts val="800"/>
              </a:spcAft>
            </a:pPr>
            <a:r>
              <a:rPr sz="1400" b="1">
                <a:solidFill>
                  <a:srgbClr val="F59E0B"/>
                </a:solidFill>
                <a:latin typeface="Calibri"/>
              </a:rPr>
              <a:t>● </a:t>
            </a:r>
            <a:r>
              <a:rPr sz="1400">
                <a:solidFill>
                  <a:srgbClr val="0F2040"/>
                </a:solidFill>
                <a:latin typeface="Calibri"/>
              </a:rPr>
              <a:t>Hora (HH:MM)</a:t>
            </a:r>
          </a:p>
          <a:p>
            <a:pPr algn="l">
              <a:lnSpc>
                <a:spcPct val="140000"/>
              </a:lnSpc>
              <a:spcAft>
                <a:spcPts val="800"/>
              </a:spcAft>
            </a:pPr>
            <a:r>
              <a:rPr sz="1400" b="1">
                <a:solidFill>
                  <a:srgbClr val="F59E0B"/>
                </a:solidFill>
                <a:latin typeface="Calibri"/>
              </a:rPr>
              <a:t>● </a:t>
            </a:r>
            <a:r>
              <a:rPr sz="1400">
                <a:solidFill>
                  <a:srgbClr val="0F2040"/>
                </a:solidFill>
                <a:latin typeface="Calibri"/>
              </a:rPr>
              <a:t>Usuario que escaneó (tú)</a:t>
            </a:r>
          </a:p>
          <a:p>
            <a:pPr algn="l">
              <a:lnSpc>
                <a:spcPct val="140000"/>
              </a:lnSpc>
              <a:spcAft>
                <a:spcPts val="800"/>
              </a:spcAft>
            </a:pPr>
            <a:r>
              <a:rPr sz="1400" b="1">
                <a:solidFill>
                  <a:srgbClr val="F59E0B"/>
                </a:solidFill>
                <a:latin typeface="Calibri"/>
              </a:rPr>
              <a:t>● </a:t>
            </a:r>
            <a:r>
              <a:rPr sz="1400">
                <a:solidFill>
                  <a:srgbClr val="0F2040"/>
                </a:solidFill>
                <a:latin typeface="Calibri"/>
              </a:rPr>
              <a:t>Ubicación legible ("Etapa X · Posto #Y")</a:t>
            </a:r>
          </a:p>
        </p:txBody>
      </p:sp>
      <p:sp>
        <p:nvSpPr>
          <p:cNvPr id="8" name="Rounded Rectangle 7"/>
          <p:cNvSpPr/>
          <p:nvPr/>
        </p:nvSpPr>
        <p:spPr>
          <a:xfrm>
            <a:off x="6217920" y="1097280"/>
            <a:ext cx="5577840" cy="548640"/>
          </a:xfrm>
          <a:prstGeom prst="roundRect">
            <a:avLst/>
          </a:prstGeom>
          <a:solidFill>
            <a:srgbClr val="0A1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097280"/>
            <a:ext cx="5577840" cy="548640"/>
          </a:xfrm>
          <a:prstGeom prst="rect">
            <a:avLst/>
          </a:prstGeom>
          <a:noFill/>
        </p:spPr>
        <p:txBody>
          <a:bodyPr wrap="square" anchor="ctr" lIns="45720" rIns="45720">
            <a:spAutoFit/>
          </a:bodyPr>
          <a:lstStyle/>
          <a:p>
            <a:pPr algn="ctr"/>
            <a:r>
              <a:rPr sz="1800" b="1">
                <a:solidFill>
                  <a:srgbClr val="FFFFFF"/>
                </a:solidFill>
                <a:latin typeface="Calibri"/>
              </a:rPr>
              <a:t>Feedback que recibes:</a:t>
            </a:r>
          </a:p>
        </p:txBody>
      </p:sp>
      <p:sp>
        <p:nvSpPr>
          <p:cNvPr id="10" name="TextBox 9"/>
          <p:cNvSpPr txBox="1"/>
          <p:nvPr/>
        </p:nvSpPr>
        <p:spPr>
          <a:xfrm>
            <a:off x="6309360" y="1828800"/>
            <a:ext cx="5394960" cy="4572000"/>
          </a:xfrm>
          <a:prstGeom prst="rect">
            <a:avLst/>
          </a:prstGeom>
          <a:noFill/>
        </p:spPr>
        <p:txBody>
          <a:bodyPr wrap="square">
            <a:spAutoFit/>
          </a:bodyPr>
          <a:lstStyle/>
          <a:p>
            <a:pPr algn="l">
              <a:lnSpc>
                <a:spcPct val="140000"/>
              </a:lnSpc>
              <a:spcAft>
                <a:spcPts val="800"/>
              </a:spcAft>
            </a:pPr>
            <a:r>
              <a:rPr sz="1400" b="1">
                <a:solidFill>
                  <a:srgbClr val="0A1172"/>
                </a:solidFill>
                <a:latin typeface="Calibri"/>
              </a:rPr>
              <a:t>● </a:t>
            </a:r>
            <a:r>
              <a:rPr sz="1400">
                <a:solidFill>
                  <a:srgbClr val="0F2040"/>
                </a:solidFill>
                <a:latin typeface="Calibri"/>
              </a:rPr>
              <a:t>Vibración corta = registro exitoso</a:t>
            </a:r>
          </a:p>
          <a:p>
            <a:pPr algn="l">
              <a:lnSpc>
                <a:spcPct val="140000"/>
              </a:lnSpc>
              <a:spcAft>
                <a:spcPts val="800"/>
              </a:spcAft>
            </a:pPr>
            <a:r>
              <a:rPr sz="1400" b="1">
                <a:solidFill>
                  <a:srgbClr val="0A1172"/>
                </a:solidFill>
                <a:latin typeface="Calibri"/>
              </a:rPr>
              <a:t>● </a:t>
            </a:r>
            <a:r>
              <a:rPr sz="1400">
                <a:solidFill>
                  <a:srgbClr val="0F2040"/>
                </a:solidFill>
                <a:latin typeface="Calibri"/>
              </a:rPr>
              <a:t>Vibración larga + pausa = error (QR inválido)</a:t>
            </a:r>
          </a:p>
          <a:p>
            <a:pPr algn="l">
              <a:lnSpc>
                <a:spcPct val="140000"/>
              </a:lnSpc>
              <a:spcAft>
                <a:spcPts val="800"/>
              </a:spcAft>
            </a:pPr>
            <a:r>
              <a:rPr sz="1400" b="1">
                <a:solidFill>
                  <a:srgbClr val="0A1172"/>
                </a:solidFill>
                <a:latin typeface="Calibri"/>
              </a:rPr>
              <a:t>● </a:t>
            </a:r>
            <a:r>
              <a:rPr sz="1400">
                <a:solidFill>
                  <a:srgbClr val="0F2040"/>
                </a:solidFill>
                <a:latin typeface="Calibri"/>
              </a:rPr>
              <a:t>Tarjeta verde con etapa, posto, fecha y hora</a:t>
            </a:r>
          </a:p>
          <a:p>
            <a:pPr algn="l">
              <a:lnSpc>
                <a:spcPct val="140000"/>
              </a:lnSpc>
              <a:spcAft>
                <a:spcPts val="800"/>
              </a:spcAft>
            </a:pPr>
            <a:r>
              <a:rPr sz="1400" b="1">
                <a:solidFill>
                  <a:srgbClr val="0A1172"/>
                </a:solidFill>
                <a:latin typeface="Calibri"/>
              </a:rPr>
              <a:t>● </a:t>
            </a:r>
            <a:r>
              <a:rPr sz="1400">
                <a:solidFill>
                  <a:srgbClr val="0F2040"/>
                </a:solidFill>
                <a:latin typeface="Calibri"/>
              </a:rPr>
              <a:t>Feed discreto con últimos 3 registros</a:t>
            </a:r>
          </a:p>
          <a:p>
            <a:pPr algn="l">
              <a:lnSpc>
                <a:spcPct val="140000"/>
              </a:lnSpc>
              <a:spcAft>
                <a:spcPts val="800"/>
              </a:spcAft>
            </a:pPr>
            <a:r>
              <a:rPr sz="1400" b="1">
                <a:solidFill>
                  <a:srgbClr val="0A1172"/>
                </a:solidFill>
                <a:latin typeface="Calibri"/>
              </a:rPr>
              <a:t>● </a:t>
            </a:r>
            <a:r>
              <a:rPr sz="1400">
                <a:solidFill>
                  <a:srgbClr val="0F2040"/>
                </a:solidFill>
                <a:latin typeface="Calibri"/>
              </a:rPr>
              <a:t>Botón "Reiniciar" si la cámara se bloquea</a:t>
            </a:r>
          </a:p>
          <a:p>
            <a:pPr algn="l">
              <a:lnSpc>
                <a:spcPct val="140000"/>
              </a:lnSpc>
              <a:spcAft>
                <a:spcPts val="800"/>
              </a:spcAft>
            </a:pPr>
            <a:r>
              <a:rPr sz="1400" b="1">
                <a:solidFill>
                  <a:srgbClr val="0A1172"/>
                </a:solidFill>
                <a:latin typeface="Calibri"/>
              </a:rPr>
              <a:t>● </a:t>
            </a:r>
            <a:r>
              <a:rPr sz="1400">
                <a:solidFill>
                  <a:srgbClr val="0F2040"/>
                </a:solidFill>
                <a:latin typeface="Calibri"/>
              </a:rPr>
              <a:t>Botón "Cambiar cámara" (frontal/trasera)</a:t>
            </a:r>
          </a:p>
          <a:p>
            <a:pPr algn="l">
              <a:lnSpc>
                <a:spcPct val="140000"/>
              </a:lnSpc>
              <a:spcAft>
                <a:spcPts val="800"/>
              </a:spcAft>
            </a:pPr>
            <a:r>
              <a:rPr sz="1400" b="1">
                <a:solidFill>
                  <a:srgbClr val="0A1172"/>
                </a:solidFill>
                <a:latin typeface="Calibri"/>
              </a:rPr>
              <a:t>● </a:t>
            </a:r>
            <a:r>
              <a:rPr sz="1400">
                <a:solidFill>
                  <a:srgbClr val="0F2040"/>
                </a:solidFill>
                <a:latin typeface="Calibri"/>
              </a:rPr>
              <a:t>Botón "Manual" si no hay cámara (ingreso manual)</a:t>
            </a:r>
          </a:p>
        </p:txBody>
      </p:sp>
      <p:sp>
        <p:nvSpPr>
          <p:cNvPr id="11" name="Rectangle 10"/>
          <p:cNvSpPr/>
          <p:nvPr/>
        </p:nvSpPr>
        <p:spPr>
          <a:xfrm>
            <a:off x="0" y="6583680"/>
            <a:ext cx="12191695" cy="274320"/>
          </a:xfrm>
          <a:prstGeom prst="rect">
            <a:avLst/>
          </a:prstGeom>
          <a:solidFill>
            <a:srgbClr val="0F2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83680"/>
            <a:ext cx="6400800" cy="274320"/>
          </a:xfrm>
          <a:prstGeom prst="rect">
            <a:avLst/>
          </a:prstGeom>
          <a:noFill/>
        </p:spPr>
        <p:txBody>
          <a:bodyPr wrap="square" anchor="ctr" lIns="45720" rIns="45720">
            <a:spAutoFit/>
          </a:bodyPr>
          <a:lstStyle/>
          <a:p>
            <a:pPr algn="l"/>
            <a:r>
              <a:rPr sz="900" b="0">
                <a:solidFill>
                  <a:srgbClr val="FFFFFF"/>
                </a:solidFill>
                <a:latin typeface="Calibri"/>
              </a:rPr>
              <a:t>Asesorías Integrales CyJ · Capacitación Guardia</a:t>
            </a:r>
          </a:p>
        </p:txBody>
      </p:sp>
      <p:sp>
        <p:nvSpPr>
          <p:cNvPr id="13" name="TextBox 12"/>
          <p:cNvSpPr txBox="1"/>
          <p:nvPr/>
        </p:nvSpPr>
        <p:spPr>
          <a:xfrm>
            <a:off x="7315200" y="6583680"/>
            <a:ext cx="4572000" cy="274320"/>
          </a:xfrm>
          <a:prstGeom prst="rect">
            <a:avLst/>
          </a:prstGeom>
          <a:noFill/>
        </p:spPr>
        <p:txBody>
          <a:bodyPr wrap="square" anchor="ctr" lIns="45720" rIns="45720">
            <a:spAutoFit/>
          </a:bodyPr>
          <a:lstStyle/>
          <a:p>
            <a:pPr algn="r"/>
            <a:r>
              <a:rPr sz="900" b="0">
                <a:solidFill>
                  <a:srgbClr val="F59E0B"/>
                </a:solidFill>
                <a:latin typeface="Calibri"/>
              </a:rPr>
              <a:t>https://condominios-cyj.vercel.app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A1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058400" cy="548640"/>
          </a:xfrm>
          <a:prstGeom prst="rect">
            <a:avLst/>
          </a:prstGeom>
          <a:noFill/>
        </p:spPr>
        <p:txBody>
          <a:bodyPr wrap="square" anchor="ctr" lIns="45720" rIns="45720">
            <a:spAutoFit/>
          </a:bodyPr>
          <a:lstStyle/>
          <a:p>
            <a:pPr algn="l"/>
            <a:r>
              <a:rPr sz="2200" b="1">
                <a:solidFill>
                  <a:srgbClr val="FFFFFF"/>
                </a:solidFill>
                <a:latin typeface="Calibri"/>
              </a:rPr>
              <a:t>Requisitos técnicos</a:t>
            </a:r>
          </a:p>
        </p:txBody>
      </p:sp>
      <p:sp>
        <p:nvSpPr>
          <p:cNvPr id="4" name="TextBox 3"/>
          <p:cNvSpPr txBox="1"/>
          <p:nvPr/>
        </p:nvSpPr>
        <p:spPr>
          <a:xfrm>
            <a:off x="11247120" y="137160"/>
            <a:ext cx="731520" cy="548640"/>
          </a:xfrm>
          <a:prstGeom prst="rect">
            <a:avLst/>
          </a:prstGeom>
          <a:noFill/>
        </p:spPr>
        <p:txBody>
          <a:bodyPr wrap="square" anchor="ctr" lIns="45720" rIns="45720">
            <a:spAutoFit/>
          </a:bodyPr>
          <a:lstStyle/>
          <a:p>
            <a:pPr algn="r"/>
            <a:r>
              <a:rPr sz="1400" b="0">
                <a:solidFill>
                  <a:srgbClr val="F59E0B"/>
                </a:solidFill>
                <a:latin typeface="Calibri"/>
              </a:rPr>
              <a:t>7</a:t>
            </a:r>
          </a:p>
        </p:txBody>
      </p:sp>
      <p:sp>
        <p:nvSpPr>
          <p:cNvPr id="5" name="Rounded Rectangle 4"/>
          <p:cNvSpPr/>
          <p:nvPr/>
        </p:nvSpPr>
        <p:spPr>
          <a:xfrm>
            <a:off x="914400" y="1828800"/>
            <a:ext cx="10332720" cy="320040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828800"/>
            <a:ext cx="137160" cy="3200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2103120"/>
            <a:ext cx="1828800" cy="1828800"/>
          </a:xfrm>
          <a:prstGeom prst="rect">
            <a:avLst/>
          </a:prstGeom>
          <a:noFill/>
        </p:spPr>
        <p:txBody>
          <a:bodyPr wrap="square" anchor="ctr" lIns="45720" rIns="45720">
            <a:spAutoFit/>
          </a:bodyPr>
          <a:lstStyle/>
          <a:p>
            <a:pPr algn="ctr"/>
            <a:r>
              <a:rPr sz="8000" b="0">
                <a:solidFill>
                  <a:srgbClr val="F59E0B"/>
                </a:solidFill>
                <a:latin typeface="Calibri"/>
              </a:rPr>
              <a:t>⚠️</a:t>
            </a:r>
          </a:p>
        </p:txBody>
      </p:sp>
      <p:sp>
        <p:nvSpPr>
          <p:cNvPr id="8" name="TextBox 7"/>
          <p:cNvSpPr txBox="1"/>
          <p:nvPr/>
        </p:nvSpPr>
        <p:spPr>
          <a:xfrm>
            <a:off x="3474720" y="2103120"/>
            <a:ext cx="7498079" cy="2743200"/>
          </a:xfrm>
          <a:prstGeom prst="rect">
            <a:avLst/>
          </a:prstGeom>
          <a:noFill/>
        </p:spPr>
        <p:txBody>
          <a:bodyPr wrap="square" anchor="ctr" lIns="45720" rIns="45720">
            <a:spAutoFit/>
          </a:bodyPr>
          <a:lstStyle/>
          <a:p>
            <a:pPr algn="l"/>
            <a:r>
              <a:rPr sz="1800" b="0">
                <a:solidFill>
                  <a:srgbClr val="0F2040"/>
                </a:solidFill>
                <a:latin typeface="Calibri"/>
              </a:rPr>
              <a:t>Para que el escaneo funcione correctamente necesitas:
📱 Celular con cámara (preferentemente trasera)
🌐 Conexión a internet (WiFi o datos móviles)
🔒 Permiso de cámara concedido al navegador
🌐 Acceder por HTTPS (https://condominios-cyj.vercel.app)
🔋 Batería suficiente (recomendado &gt;50%)
🌐 Navegador moderno (Chrome, Safari, Firefox)</a:t>
            </a:r>
          </a:p>
        </p:txBody>
      </p:sp>
      <p:sp>
        <p:nvSpPr>
          <p:cNvPr id="9" name="Rectangle 8"/>
          <p:cNvSpPr/>
          <p:nvPr/>
        </p:nvSpPr>
        <p:spPr>
          <a:xfrm>
            <a:off x="0" y="6583680"/>
            <a:ext cx="12191695" cy="274320"/>
          </a:xfrm>
          <a:prstGeom prst="rect">
            <a:avLst/>
          </a:prstGeom>
          <a:solidFill>
            <a:srgbClr val="0F2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83680"/>
            <a:ext cx="6400800" cy="274320"/>
          </a:xfrm>
          <a:prstGeom prst="rect">
            <a:avLst/>
          </a:prstGeom>
          <a:noFill/>
        </p:spPr>
        <p:txBody>
          <a:bodyPr wrap="square" anchor="ctr" lIns="45720" rIns="45720">
            <a:spAutoFit/>
          </a:bodyPr>
          <a:lstStyle/>
          <a:p>
            <a:pPr algn="l"/>
            <a:r>
              <a:rPr sz="900" b="0">
                <a:solidFill>
                  <a:srgbClr val="FFFFFF"/>
                </a:solidFill>
                <a:latin typeface="Calibri"/>
              </a:rPr>
              <a:t>Asesorías Integrales CyJ · Capacitación Guardia</a:t>
            </a:r>
          </a:p>
        </p:txBody>
      </p:sp>
      <p:sp>
        <p:nvSpPr>
          <p:cNvPr id="11" name="TextBox 10"/>
          <p:cNvSpPr txBox="1"/>
          <p:nvPr/>
        </p:nvSpPr>
        <p:spPr>
          <a:xfrm>
            <a:off x="7315200" y="6583680"/>
            <a:ext cx="4572000" cy="274320"/>
          </a:xfrm>
          <a:prstGeom prst="rect">
            <a:avLst/>
          </a:prstGeom>
          <a:noFill/>
        </p:spPr>
        <p:txBody>
          <a:bodyPr wrap="square" anchor="ctr" lIns="45720" rIns="45720">
            <a:spAutoFit/>
          </a:bodyPr>
          <a:lstStyle/>
          <a:p>
            <a:pPr algn="r"/>
            <a:r>
              <a:rPr sz="900" b="0">
                <a:solidFill>
                  <a:srgbClr val="F59E0B"/>
                </a:solidFill>
                <a:latin typeface="Calibri"/>
              </a:rPr>
              <a:t>https://condominios-cyj.vercel.app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A1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058400" cy="548640"/>
          </a:xfrm>
          <a:prstGeom prst="rect">
            <a:avLst/>
          </a:prstGeom>
          <a:noFill/>
        </p:spPr>
        <p:txBody>
          <a:bodyPr wrap="square" anchor="ctr" lIns="45720" rIns="45720">
            <a:spAutoFit/>
          </a:bodyPr>
          <a:lstStyle/>
          <a:p>
            <a:pPr algn="l"/>
            <a:r>
              <a:rPr sz="2200" b="1">
                <a:solidFill>
                  <a:srgbClr val="FFFFFF"/>
                </a:solidFill>
                <a:latin typeface="Calibri"/>
              </a:rPr>
              <a:t>Solución de problemas</a:t>
            </a:r>
          </a:p>
        </p:txBody>
      </p:sp>
      <p:sp>
        <p:nvSpPr>
          <p:cNvPr id="4" name="TextBox 3"/>
          <p:cNvSpPr txBox="1"/>
          <p:nvPr/>
        </p:nvSpPr>
        <p:spPr>
          <a:xfrm>
            <a:off x="11247120" y="137160"/>
            <a:ext cx="731520" cy="548640"/>
          </a:xfrm>
          <a:prstGeom prst="rect">
            <a:avLst/>
          </a:prstGeom>
          <a:noFill/>
        </p:spPr>
        <p:txBody>
          <a:bodyPr wrap="square" anchor="ctr" lIns="45720" rIns="45720">
            <a:spAutoFit/>
          </a:bodyPr>
          <a:lstStyle/>
          <a:p>
            <a:pPr algn="r"/>
            <a:r>
              <a:rPr sz="1400" b="0">
                <a:solidFill>
                  <a:srgbClr val="F59E0B"/>
                </a:solidFill>
                <a:latin typeface="Calibri"/>
              </a:rPr>
              <a:t>8</a:t>
            </a:r>
          </a:p>
        </p:txBody>
      </p:sp>
      <p:sp>
        <p:nvSpPr>
          <p:cNvPr id="5" name="Rounded Rectangle 4"/>
          <p:cNvSpPr/>
          <p:nvPr/>
        </p:nvSpPr>
        <p:spPr>
          <a:xfrm>
            <a:off x="914400" y="1828800"/>
            <a:ext cx="10332720" cy="320040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828800"/>
            <a:ext cx="137160" cy="32004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2103120"/>
            <a:ext cx="1828800" cy="1828800"/>
          </a:xfrm>
          <a:prstGeom prst="rect">
            <a:avLst/>
          </a:prstGeom>
          <a:noFill/>
        </p:spPr>
        <p:txBody>
          <a:bodyPr wrap="square" anchor="ctr" lIns="45720" rIns="45720">
            <a:spAutoFit/>
          </a:bodyPr>
          <a:lstStyle/>
          <a:p>
            <a:pPr algn="ctr"/>
            <a:r>
              <a:rPr sz="8000" b="0">
                <a:solidFill>
                  <a:srgbClr val="0369A1"/>
                </a:solidFill>
                <a:latin typeface="Calibri"/>
              </a:rPr>
              <a:t>ℹ️</a:t>
            </a:r>
          </a:p>
        </p:txBody>
      </p:sp>
      <p:sp>
        <p:nvSpPr>
          <p:cNvPr id="8" name="TextBox 7"/>
          <p:cNvSpPr txBox="1"/>
          <p:nvPr/>
        </p:nvSpPr>
        <p:spPr>
          <a:xfrm>
            <a:off x="3474720" y="2103120"/>
            <a:ext cx="7498079" cy="2743200"/>
          </a:xfrm>
          <a:prstGeom prst="rect">
            <a:avLst/>
          </a:prstGeom>
          <a:noFill/>
        </p:spPr>
        <p:txBody>
          <a:bodyPr wrap="square" anchor="ctr" lIns="45720" rIns="45720">
            <a:spAutoFit/>
          </a:bodyPr>
          <a:lstStyle/>
          <a:p>
            <a:pPr algn="l"/>
            <a:r>
              <a:rPr sz="1800" b="0">
                <a:solidFill>
                  <a:srgbClr val="0F2040"/>
                </a:solidFill>
                <a:latin typeface="Calibri"/>
              </a:rPr>
              <a:t>Si la cámara no abre:
1. Verifica que la URL empiece con "https://" (no "http://")
2. Revisa permisos: ícono candado en barra → Cámara → Permitir
3. Prueba con botón "Reiniciar"
4. Si persiste, usa "Ingreso manual" e ingresa el código del QR
Si el QR no se detecta:
1. Acerca la cámara a 10-15 cm del QR
2. Limpia el lente de la cámara
3. Asegúrate de que el QR no esté dañado
4. Prueba con mejor iluminación</a:t>
            </a:r>
          </a:p>
        </p:txBody>
      </p:sp>
      <p:sp>
        <p:nvSpPr>
          <p:cNvPr id="9" name="Rectangle 8"/>
          <p:cNvSpPr/>
          <p:nvPr/>
        </p:nvSpPr>
        <p:spPr>
          <a:xfrm>
            <a:off x="0" y="6583680"/>
            <a:ext cx="12191695" cy="274320"/>
          </a:xfrm>
          <a:prstGeom prst="rect">
            <a:avLst/>
          </a:prstGeom>
          <a:solidFill>
            <a:srgbClr val="0F2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83680"/>
            <a:ext cx="6400800" cy="274320"/>
          </a:xfrm>
          <a:prstGeom prst="rect">
            <a:avLst/>
          </a:prstGeom>
          <a:noFill/>
        </p:spPr>
        <p:txBody>
          <a:bodyPr wrap="square" anchor="ctr" lIns="45720" rIns="45720">
            <a:spAutoFit/>
          </a:bodyPr>
          <a:lstStyle/>
          <a:p>
            <a:pPr algn="l"/>
            <a:r>
              <a:rPr sz="900" b="0">
                <a:solidFill>
                  <a:srgbClr val="FFFFFF"/>
                </a:solidFill>
                <a:latin typeface="Calibri"/>
              </a:rPr>
              <a:t>Asesorías Integrales CyJ · Capacitación Guardia</a:t>
            </a:r>
          </a:p>
        </p:txBody>
      </p:sp>
      <p:sp>
        <p:nvSpPr>
          <p:cNvPr id="11" name="TextBox 10"/>
          <p:cNvSpPr txBox="1"/>
          <p:nvPr/>
        </p:nvSpPr>
        <p:spPr>
          <a:xfrm>
            <a:off x="7315200" y="6583680"/>
            <a:ext cx="4572000" cy="274320"/>
          </a:xfrm>
          <a:prstGeom prst="rect">
            <a:avLst/>
          </a:prstGeom>
          <a:noFill/>
        </p:spPr>
        <p:txBody>
          <a:bodyPr wrap="square" anchor="ctr" lIns="45720" rIns="45720">
            <a:spAutoFit/>
          </a:bodyPr>
          <a:lstStyle/>
          <a:p>
            <a:pPr algn="r"/>
            <a:r>
              <a:rPr sz="900" b="0">
                <a:solidFill>
                  <a:srgbClr val="F59E0B"/>
                </a:solidFill>
                <a:latin typeface="Calibri"/>
              </a:rPr>
              <a:t>https://condominios-cyj.vercel.app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A1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058400" cy="548640"/>
          </a:xfrm>
          <a:prstGeom prst="rect">
            <a:avLst/>
          </a:prstGeom>
          <a:noFill/>
        </p:spPr>
        <p:txBody>
          <a:bodyPr wrap="square" anchor="ctr" lIns="45720" rIns="45720">
            <a:spAutoFit/>
          </a:bodyPr>
          <a:lstStyle/>
          <a:p>
            <a:pPr algn="l"/>
            <a:r>
              <a:rPr sz="2200" b="1">
                <a:solidFill>
                  <a:srgbClr val="FFFFFF"/>
                </a:solidFill>
                <a:latin typeface="Calibri"/>
              </a:rPr>
              <a:t>No puedes hacer</a:t>
            </a:r>
          </a:p>
        </p:txBody>
      </p:sp>
      <p:sp>
        <p:nvSpPr>
          <p:cNvPr id="4" name="TextBox 3"/>
          <p:cNvSpPr txBox="1"/>
          <p:nvPr/>
        </p:nvSpPr>
        <p:spPr>
          <a:xfrm>
            <a:off x="11247120" y="137160"/>
            <a:ext cx="731520" cy="548640"/>
          </a:xfrm>
          <a:prstGeom prst="rect">
            <a:avLst/>
          </a:prstGeom>
          <a:noFill/>
        </p:spPr>
        <p:txBody>
          <a:bodyPr wrap="square" anchor="ctr" lIns="45720" rIns="45720">
            <a:spAutoFit/>
          </a:bodyPr>
          <a:lstStyle/>
          <a:p>
            <a:pPr algn="r"/>
            <a:r>
              <a:rPr sz="1400" b="0">
                <a:solidFill>
                  <a:srgbClr val="F59E0B"/>
                </a:solidFill>
                <a:latin typeface="Calibri"/>
              </a:rPr>
              <a:t>9</a:t>
            </a:r>
          </a:p>
        </p:txBody>
      </p:sp>
      <p:sp>
        <p:nvSpPr>
          <p:cNvPr id="5" name="Rounded Rectangle 4"/>
          <p:cNvSpPr/>
          <p:nvPr/>
        </p:nvSpPr>
        <p:spPr>
          <a:xfrm>
            <a:off x="914400" y="1828800"/>
            <a:ext cx="10332720" cy="3200400"/>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828800"/>
            <a:ext cx="137160" cy="32004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2103120"/>
            <a:ext cx="1828800" cy="1828800"/>
          </a:xfrm>
          <a:prstGeom prst="rect">
            <a:avLst/>
          </a:prstGeom>
          <a:noFill/>
        </p:spPr>
        <p:txBody>
          <a:bodyPr wrap="square" anchor="ctr" lIns="45720" rIns="45720">
            <a:spAutoFit/>
          </a:bodyPr>
          <a:lstStyle/>
          <a:p>
            <a:pPr algn="ctr"/>
            <a:r>
              <a:rPr sz="8000" b="0">
                <a:solidFill>
                  <a:srgbClr val="DC2626"/>
                </a:solidFill>
                <a:latin typeface="Calibri"/>
              </a:rPr>
              <a:t>⛔</a:t>
            </a:r>
          </a:p>
        </p:txBody>
      </p:sp>
      <p:sp>
        <p:nvSpPr>
          <p:cNvPr id="8" name="TextBox 7"/>
          <p:cNvSpPr txBox="1"/>
          <p:nvPr/>
        </p:nvSpPr>
        <p:spPr>
          <a:xfrm>
            <a:off x="3474720" y="2103120"/>
            <a:ext cx="7498079" cy="2743200"/>
          </a:xfrm>
          <a:prstGeom prst="rect">
            <a:avLst/>
          </a:prstGeom>
          <a:noFill/>
        </p:spPr>
        <p:txBody>
          <a:bodyPr wrap="square" anchor="ctr" lIns="45720" rIns="45720">
            <a:spAutoFit/>
          </a:bodyPr>
          <a:lstStyle/>
          <a:p>
            <a:pPr algn="l"/>
            <a:r>
              <a:rPr sz="1800" b="0">
                <a:solidFill>
                  <a:srgbClr val="0F2040"/>
                </a:solidFill>
                <a:latin typeface="Calibri"/>
              </a:rPr>
              <a:t>El rol Guardia es el más restringido del sistema:
✗ Ver el Dashboard o cualquier otro módulo
✗ Ver Órdenes de Trabajo, Proyectos, Personal
✗ Ver Solicitudes de Compra
✗ Ver Usuarios, Permisos, Auditoría
✗ Crear, editar o eliminar rondas
✗ Ver QR de las rondas (eso lo hace el admin)
✗ Descargar PDF con QR
Tu única función es REGISTRAR RONDAS escaneando QR.</a:t>
            </a:r>
          </a:p>
        </p:txBody>
      </p:sp>
      <p:sp>
        <p:nvSpPr>
          <p:cNvPr id="9" name="Rectangle 8"/>
          <p:cNvSpPr/>
          <p:nvPr/>
        </p:nvSpPr>
        <p:spPr>
          <a:xfrm>
            <a:off x="0" y="6583680"/>
            <a:ext cx="12191695" cy="274320"/>
          </a:xfrm>
          <a:prstGeom prst="rect">
            <a:avLst/>
          </a:prstGeom>
          <a:solidFill>
            <a:srgbClr val="0F2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83680"/>
            <a:ext cx="6400800" cy="274320"/>
          </a:xfrm>
          <a:prstGeom prst="rect">
            <a:avLst/>
          </a:prstGeom>
          <a:noFill/>
        </p:spPr>
        <p:txBody>
          <a:bodyPr wrap="square" anchor="ctr" lIns="45720" rIns="45720">
            <a:spAutoFit/>
          </a:bodyPr>
          <a:lstStyle/>
          <a:p>
            <a:pPr algn="l"/>
            <a:r>
              <a:rPr sz="900" b="0">
                <a:solidFill>
                  <a:srgbClr val="FFFFFF"/>
                </a:solidFill>
                <a:latin typeface="Calibri"/>
              </a:rPr>
              <a:t>Asesorías Integrales CyJ · Capacitación Guardia</a:t>
            </a:r>
          </a:p>
        </p:txBody>
      </p:sp>
      <p:sp>
        <p:nvSpPr>
          <p:cNvPr id="11" name="TextBox 10"/>
          <p:cNvSpPr txBox="1"/>
          <p:nvPr/>
        </p:nvSpPr>
        <p:spPr>
          <a:xfrm>
            <a:off x="7315200" y="6583680"/>
            <a:ext cx="4572000" cy="274320"/>
          </a:xfrm>
          <a:prstGeom prst="rect">
            <a:avLst/>
          </a:prstGeom>
          <a:noFill/>
        </p:spPr>
        <p:txBody>
          <a:bodyPr wrap="square" anchor="ctr" lIns="45720" rIns="45720">
            <a:spAutoFit/>
          </a:bodyPr>
          <a:lstStyle/>
          <a:p>
            <a:pPr algn="r"/>
            <a:r>
              <a:rPr sz="900" b="0">
                <a:solidFill>
                  <a:srgbClr val="F59E0B"/>
                </a:solidFill>
                <a:latin typeface="Calibri"/>
              </a:rPr>
              <a:t>https://condominios-cyj.vercel.app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A1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0058400" cy="548640"/>
          </a:xfrm>
          <a:prstGeom prst="rect">
            <a:avLst/>
          </a:prstGeom>
          <a:noFill/>
        </p:spPr>
        <p:txBody>
          <a:bodyPr wrap="square" anchor="ctr" lIns="45720" rIns="45720">
            <a:spAutoFit/>
          </a:bodyPr>
          <a:lstStyle/>
          <a:p>
            <a:pPr algn="l"/>
            <a:r>
              <a:rPr sz="2200" b="1">
                <a:solidFill>
                  <a:srgbClr val="FFFFFF"/>
                </a:solidFill>
                <a:latin typeface="Calibri"/>
              </a:rPr>
              <a:t>Datos de Acceso</a:t>
            </a:r>
          </a:p>
        </p:txBody>
      </p:sp>
      <p:sp>
        <p:nvSpPr>
          <p:cNvPr id="4" name="TextBox 3"/>
          <p:cNvSpPr txBox="1"/>
          <p:nvPr/>
        </p:nvSpPr>
        <p:spPr>
          <a:xfrm>
            <a:off x="11247120" y="137160"/>
            <a:ext cx="731520" cy="548640"/>
          </a:xfrm>
          <a:prstGeom prst="rect">
            <a:avLst/>
          </a:prstGeom>
          <a:noFill/>
        </p:spPr>
        <p:txBody>
          <a:bodyPr wrap="square" anchor="ctr" lIns="45720" rIns="45720">
            <a:spAutoFit/>
          </a:bodyPr>
          <a:lstStyle/>
          <a:p>
            <a:pPr algn="r"/>
            <a:r>
              <a:rPr sz="1400" b="0">
                <a:solidFill>
                  <a:srgbClr val="F59E0B"/>
                </a:solidFill>
                <a:latin typeface="Calibri"/>
              </a:rPr>
              <a:t>10</a:t>
            </a:r>
          </a:p>
        </p:txBody>
      </p:sp>
      <p:sp>
        <p:nvSpPr>
          <p:cNvPr id="5" name="TextBox 4"/>
          <p:cNvSpPr txBox="1"/>
          <p:nvPr/>
        </p:nvSpPr>
        <p:spPr>
          <a:xfrm>
            <a:off x="457200" y="1005840"/>
            <a:ext cx="11247120" cy="731520"/>
          </a:xfrm>
          <a:prstGeom prst="rect">
            <a:avLst/>
          </a:prstGeom>
          <a:noFill/>
        </p:spPr>
        <p:txBody>
          <a:bodyPr wrap="square" anchor="t" lIns="45720" rIns="45720">
            <a:spAutoFit/>
          </a:bodyPr>
          <a:lstStyle/>
          <a:p>
            <a:pPr algn="l"/>
            <a:r>
              <a:rPr sz="1400" b="0">
                <a:solidFill>
                  <a:srgbClr val="666666"/>
                </a:solidFill>
                <a:latin typeface="Calibri"/>
              </a:rPr>
              <a:t>Credenciales de prueba para capacitación:</a:t>
            </a:r>
          </a:p>
        </p:txBody>
      </p:sp>
      <p:sp>
        <p:nvSpPr>
          <p:cNvPr id="6" name="TextBox 5"/>
          <p:cNvSpPr txBox="1"/>
          <p:nvPr/>
        </p:nvSpPr>
        <p:spPr>
          <a:xfrm>
            <a:off x="640080" y="1828800"/>
            <a:ext cx="10972800" cy="4572000"/>
          </a:xfrm>
          <a:prstGeom prst="rect">
            <a:avLst/>
          </a:prstGeom>
          <a:noFill/>
        </p:spPr>
        <p:txBody>
          <a:bodyPr wrap="square">
            <a:spAutoFit/>
          </a:bodyPr>
          <a:lstStyle/>
          <a:p>
            <a:pPr algn="l">
              <a:lnSpc>
                <a:spcPct val="140000"/>
              </a:lnSpc>
              <a:spcAft>
                <a:spcPts val="800"/>
              </a:spcAft>
            </a:pPr>
            <a:r>
              <a:rPr sz="1600" b="1">
                <a:solidFill>
                  <a:srgbClr val="F59E0B"/>
                </a:solidFill>
                <a:latin typeface="Calibri"/>
              </a:rPr>
              <a:t>● </a:t>
            </a:r>
            <a:r>
              <a:rPr sz="1600">
                <a:solidFill>
                  <a:srgbClr val="0F2040"/>
                </a:solidFill>
                <a:latin typeface="Calibri"/>
              </a:rPr>
              <a:t>URL: https://condominios-cyj.vercel.app</a:t>
            </a:r>
          </a:p>
          <a:p>
            <a:pPr algn="l">
              <a:lnSpc>
                <a:spcPct val="140000"/>
              </a:lnSpc>
              <a:spcAft>
                <a:spcPts val="800"/>
              </a:spcAft>
            </a:pPr>
            <a:r>
              <a:rPr sz="1600" b="1">
                <a:solidFill>
                  <a:srgbClr val="F59E0B"/>
                </a:solidFill>
                <a:latin typeface="Calibri"/>
              </a:rPr>
              <a:t>● </a:t>
            </a:r>
            <a:r>
              <a:rPr sz="1600">
                <a:solidFill>
                  <a:srgbClr val="0F2040"/>
                </a:solidFill>
                <a:latin typeface="Calibri"/>
              </a:rPr>
              <a:t>Email: guardia.test@cyj.cl</a:t>
            </a:r>
          </a:p>
          <a:p>
            <a:pPr algn="l">
              <a:lnSpc>
                <a:spcPct val="140000"/>
              </a:lnSpc>
              <a:spcAft>
                <a:spcPts val="800"/>
              </a:spcAft>
            </a:pPr>
            <a:r>
              <a:rPr sz="1600" b="1">
                <a:solidFill>
                  <a:srgbClr val="F59E0B"/>
                </a:solidFill>
                <a:latin typeface="Calibri"/>
              </a:rPr>
              <a:t>● </a:t>
            </a:r>
            <a:r>
              <a:rPr sz="1600">
                <a:solidFill>
                  <a:srgbClr val="0F2040"/>
                </a:solidFill>
                <a:latin typeface="Calibri"/>
              </a:rPr>
              <a:t>Contraseña temporal: Guardia2026!</a:t>
            </a:r>
          </a:p>
          <a:p>
            <a:pPr algn="l">
              <a:lnSpc>
                <a:spcPct val="140000"/>
              </a:lnSpc>
              <a:spcAft>
                <a:spcPts val="800"/>
              </a:spcAft>
            </a:pPr>
            <a:r>
              <a:rPr sz="1600" b="1">
                <a:solidFill>
                  <a:srgbClr val="F59E0B"/>
                </a:solidFill>
                <a:latin typeface="Calibri"/>
              </a:rPr>
              <a:t>● </a:t>
            </a:r>
            <a:r>
              <a:rPr sz="1600">
                <a:solidFill>
                  <a:srgbClr val="0F2040"/>
                </a:solidFill>
                <a:latin typeface="Calibri"/>
              </a:rPr>
              <a:t>Deberás cambiar la contraseña en el primer login</a:t>
            </a:r>
          </a:p>
          <a:p>
            <a:pPr algn="l">
              <a:lnSpc>
                <a:spcPct val="140000"/>
              </a:lnSpc>
              <a:spcAft>
                <a:spcPts val="800"/>
              </a:spcAft>
            </a:pPr>
            <a:r>
              <a:rPr sz="1600" b="1">
                <a:solidFill>
                  <a:srgbClr val="F59E0B"/>
                </a:solidFill>
                <a:latin typeface="Calibri"/>
              </a:rPr>
              <a:t>● </a:t>
            </a:r>
            <a:r>
              <a:rPr sz="1600">
                <a:solidFill>
                  <a:srgbClr val="0F2040"/>
                </a:solidFill>
                <a:latin typeface="Calibri"/>
              </a:rPr>
              <a:t>Página de inicio: /rondas-guardia (automática)</a:t>
            </a:r>
          </a:p>
        </p:txBody>
      </p:sp>
      <p:sp>
        <p:nvSpPr>
          <p:cNvPr id="7" name="Rectangle 6"/>
          <p:cNvSpPr/>
          <p:nvPr/>
        </p:nvSpPr>
        <p:spPr>
          <a:xfrm>
            <a:off x="0" y="6583680"/>
            <a:ext cx="12191695" cy="274320"/>
          </a:xfrm>
          <a:prstGeom prst="rect">
            <a:avLst/>
          </a:prstGeom>
          <a:solidFill>
            <a:srgbClr val="0F2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83680"/>
            <a:ext cx="6400800" cy="274320"/>
          </a:xfrm>
          <a:prstGeom prst="rect">
            <a:avLst/>
          </a:prstGeom>
          <a:noFill/>
        </p:spPr>
        <p:txBody>
          <a:bodyPr wrap="square" anchor="ctr" lIns="45720" rIns="45720">
            <a:spAutoFit/>
          </a:bodyPr>
          <a:lstStyle/>
          <a:p>
            <a:pPr algn="l"/>
            <a:r>
              <a:rPr sz="900" b="0">
                <a:solidFill>
                  <a:srgbClr val="FFFFFF"/>
                </a:solidFill>
                <a:latin typeface="Calibri"/>
              </a:rPr>
              <a:t>Asesorías Integrales CyJ · Capacitación Guardia</a:t>
            </a:r>
          </a:p>
        </p:txBody>
      </p:sp>
      <p:sp>
        <p:nvSpPr>
          <p:cNvPr id="9" name="TextBox 8"/>
          <p:cNvSpPr txBox="1"/>
          <p:nvPr/>
        </p:nvSpPr>
        <p:spPr>
          <a:xfrm>
            <a:off x="7315200" y="6583680"/>
            <a:ext cx="4572000" cy="274320"/>
          </a:xfrm>
          <a:prstGeom prst="rect">
            <a:avLst/>
          </a:prstGeom>
          <a:noFill/>
        </p:spPr>
        <p:txBody>
          <a:bodyPr wrap="square" anchor="ctr" lIns="45720" rIns="45720">
            <a:spAutoFit/>
          </a:bodyPr>
          <a:lstStyle/>
          <a:p>
            <a:pPr algn="r"/>
            <a:r>
              <a:rPr sz="900" b="0">
                <a:solidFill>
                  <a:srgbClr val="F59E0B"/>
                </a:solidFill>
                <a:latin typeface="Calibri"/>
              </a:rPr>
              <a:t>https://condominios-cyj.vercel.app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172"/>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0"/>
            <a:ext cx="10698480" cy="914400"/>
          </a:xfrm>
          <a:prstGeom prst="rect">
            <a:avLst/>
          </a:prstGeom>
          <a:noFill/>
        </p:spPr>
        <p:txBody>
          <a:bodyPr wrap="square" anchor="ctr" lIns="45720" rIns="45720">
            <a:spAutoFit/>
          </a:bodyPr>
          <a:lstStyle/>
          <a:p>
            <a:pPr algn="ctr"/>
            <a:r>
              <a:rPr sz="7200" b="1">
                <a:solidFill>
                  <a:srgbClr val="FFFFFF"/>
                </a:solidFill>
                <a:latin typeface="Calibri"/>
              </a:rPr>
              <a:t>¡Listo!</a:t>
            </a:r>
          </a:p>
        </p:txBody>
      </p:sp>
      <p:sp>
        <p:nvSpPr>
          <p:cNvPr id="4" name="TextBox 3"/>
          <p:cNvSpPr txBox="1"/>
          <p:nvPr/>
        </p:nvSpPr>
        <p:spPr>
          <a:xfrm>
            <a:off x="731520" y="3474720"/>
            <a:ext cx="10698480" cy="640080"/>
          </a:xfrm>
          <a:prstGeom prst="rect">
            <a:avLst/>
          </a:prstGeom>
          <a:noFill/>
        </p:spPr>
        <p:txBody>
          <a:bodyPr wrap="square" anchor="t" lIns="45720" rIns="45720">
            <a:spAutoFit/>
          </a:bodyPr>
          <a:lstStyle/>
          <a:p>
            <a:pPr algn="ctr"/>
            <a:r>
              <a:rPr sz="2200" b="0">
                <a:solidFill>
                  <a:srgbClr val="F1F5F9"/>
                </a:solidFill>
                <a:latin typeface="Calibri"/>
              </a:rPr>
              <a:t>Ya puedes comenzar a usar el sistema como Guardia</a:t>
            </a:r>
          </a:p>
        </p:txBody>
      </p:sp>
      <p:sp>
        <p:nvSpPr>
          <p:cNvPr id="5" name="TextBox 4"/>
          <p:cNvSpPr txBox="1"/>
          <p:nvPr/>
        </p:nvSpPr>
        <p:spPr>
          <a:xfrm>
            <a:off x="731520" y="4754880"/>
            <a:ext cx="10698480" cy="457200"/>
          </a:xfrm>
          <a:prstGeom prst="rect">
            <a:avLst/>
          </a:prstGeom>
          <a:noFill/>
        </p:spPr>
        <p:txBody>
          <a:bodyPr wrap="square" anchor="t" lIns="45720" rIns="45720">
            <a:spAutoFit/>
          </a:bodyPr>
          <a:lstStyle/>
          <a:p>
            <a:pPr algn="ctr"/>
            <a:r>
              <a:rPr sz="1400" b="0">
                <a:solidFill>
                  <a:srgbClr val="F59E0B"/>
                </a:solidFill>
                <a:latin typeface="Calibri"/>
              </a:rPr>
              <a:t>Si tienes dudas, consulta el Manual de Usuario o contacta al administrador</a:t>
            </a:r>
          </a:p>
        </p:txBody>
      </p:sp>
      <p:sp>
        <p:nvSpPr>
          <p:cNvPr id="6" name="TextBox 5"/>
          <p:cNvSpPr txBox="1"/>
          <p:nvPr/>
        </p:nvSpPr>
        <p:spPr>
          <a:xfrm>
            <a:off x="731520" y="5852160"/>
            <a:ext cx="10698480" cy="457200"/>
          </a:xfrm>
          <a:prstGeom prst="rect">
            <a:avLst/>
          </a:prstGeom>
          <a:noFill/>
        </p:spPr>
        <p:txBody>
          <a:bodyPr wrap="square" anchor="t" lIns="45720" rIns="45720">
            <a:spAutoFit/>
          </a:bodyPr>
          <a:lstStyle/>
          <a:p>
            <a:pPr algn="ctr"/>
            <a:r>
              <a:rPr sz="1400" b="1">
                <a:solidFill>
                  <a:srgbClr val="FFFFFF"/>
                </a:solidFill>
                <a:latin typeface="Calibri"/>
              </a:rPr>
              <a:t>asesoriasintegralescyj@gmail.com  ·  +56 964 650 643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